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91d9c1eece4784" /><Relationship Type="http://schemas.openxmlformats.org/officeDocument/2006/relationships/extended-properties" Target="/docProps/app.xml" Id="R537ac553b877471f" /><Relationship Type="http://schemas.openxmlformats.org/officeDocument/2006/relationships/officeDocument" Target="/ppt/presentation.xml" Id="Re619258d399a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e828c0f58041ed"/>
  </p:sldMasterIdLst>
  <p:notesMasterIdLst>
    <p:notesMasterId xmlns:r="http://schemas.openxmlformats.org/officeDocument/2006/relationships" r:id="R53f00880b3c44701"/>
  </p:notesMasterIdLst>
  <p:sldIdLst>
    <p:sldId xmlns:r="http://schemas.openxmlformats.org/officeDocument/2006/relationships" id="256" r:id="Ra559cdb748b144e5"/>
    <p:sldId xmlns:r="http://schemas.openxmlformats.org/officeDocument/2006/relationships" id="257" r:id="R7f7eb20fb03b49c7"/>
    <p:sldId xmlns:r="http://schemas.openxmlformats.org/officeDocument/2006/relationships" id="258" r:id="R0c9f1e5f6d5f42c4"/>
    <p:sldId xmlns:r="http://schemas.openxmlformats.org/officeDocument/2006/relationships" id="259" r:id="R7caecc1688ac49b4"/>
    <p:sldId xmlns:r="http://schemas.openxmlformats.org/officeDocument/2006/relationships" id="260" r:id="Rec03776efb484af5"/>
    <p:sldId xmlns:r="http://schemas.openxmlformats.org/officeDocument/2006/relationships" id="261" r:id="Rf1f995004b8540a5"/>
    <p:sldId xmlns:r="http://schemas.openxmlformats.org/officeDocument/2006/relationships" id="262" r:id="R172f79881bdc4261"/>
    <p:sldId xmlns:r="http://schemas.openxmlformats.org/officeDocument/2006/relationships" id="263" r:id="R1f72d008906445d5"/>
    <p:sldId xmlns:r="http://schemas.openxmlformats.org/officeDocument/2006/relationships" id="264" r:id="R55f40306360141d2"/>
    <p:sldId xmlns:r="http://schemas.openxmlformats.org/officeDocument/2006/relationships" id="265" r:id="Rb4d35fd0fea843dc"/>
    <p:sldId xmlns:r="http://schemas.openxmlformats.org/officeDocument/2006/relationships" id="266" r:id="R0bf1b5cace7045cf"/>
    <p:sldId xmlns:r="http://schemas.openxmlformats.org/officeDocument/2006/relationships" id="267" r:id="Rf6dccb072bb1434f"/>
    <p:sldId xmlns:r="http://schemas.openxmlformats.org/officeDocument/2006/relationships" id="268" r:id="R6c4f8716a36f444a"/>
    <p:sldId xmlns:r="http://schemas.openxmlformats.org/officeDocument/2006/relationships" id="269" r:id="R8e579ac111d544fc"/>
    <p:sldId xmlns:r="http://schemas.openxmlformats.org/officeDocument/2006/relationships" id="270" r:id="R349843e9cd524798"/>
    <p:sldId xmlns:r="http://schemas.openxmlformats.org/officeDocument/2006/relationships" id="271" r:id="R12e4456792084bc5"/>
    <p:sldId xmlns:r="http://schemas.openxmlformats.org/officeDocument/2006/relationships" id="272" r:id="Rf5d7b7d9e3cf47ff"/>
    <p:sldId xmlns:r="http://schemas.openxmlformats.org/officeDocument/2006/relationships" id="273" r:id="Rf8e5fc1f5a6f4791"/>
    <p:sldId xmlns:r="http://schemas.openxmlformats.org/officeDocument/2006/relationships" id="274" r:id="R62ac1dc67a624c8d"/>
    <p:sldId xmlns:r="http://schemas.openxmlformats.org/officeDocument/2006/relationships" id="275" r:id="R049f93e59a46472e"/>
    <p:sldId xmlns:r="http://schemas.openxmlformats.org/officeDocument/2006/relationships" id="276" r:id="R96e93636ceb54f74"/>
    <p:sldId xmlns:r="http://schemas.openxmlformats.org/officeDocument/2006/relationships" id="277" r:id="Rc5c9fef59c7d4afb"/>
    <p:sldId xmlns:r="http://schemas.openxmlformats.org/officeDocument/2006/relationships" id="278" r:id="R8c7f627688bb4313"/>
    <p:sldId xmlns:r="http://schemas.openxmlformats.org/officeDocument/2006/relationships" id="279" r:id="R67416cb541e447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d2704c7b324990" /><Relationship Type="http://schemas.openxmlformats.org/officeDocument/2006/relationships/slideMaster" Target="/ppt/slideMasters/slideMaster1.xml" Id="Ra9e828c0f58041ed" /><Relationship Type="http://schemas.openxmlformats.org/officeDocument/2006/relationships/notesMaster" Target="/ppt/notesMasters/notesMaster1.xml" Id="R53f00880b3c44701" /><Relationship Type="http://schemas.openxmlformats.org/officeDocument/2006/relationships/presProps" Target="/ppt/presProps.xml" Id="R63e75a6814b948bc" /><Relationship Type="http://schemas.openxmlformats.org/officeDocument/2006/relationships/viewProps" Target="/ppt/viewProps.xml" Id="R9d17b534e30f4358" /><Relationship Type="http://schemas.openxmlformats.org/officeDocument/2006/relationships/tableStyles" Target="/ppt/tableStyles.xml" Id="Ra0ba316f6c2e42c3" /><Relationship Type="http://schemas.openxmlformats.org/officeDocument/2006/relationships/slide" Target="/ppt/slides/slide1.xml" Id="Ra559cdb748b144e5" /><Relationship Type="http://schemas.openxmlformats.org/officeDocument/2006/relationships/slide" Target="/ppt/slides/slide2.xml" Id="R7f7eb20fb03b49c7" /><Relationship Type="http://schemas.openxmlformats.org/officeDocument/2006/relationships/slide" Target="/ppt/slides/slide3.xml" Id="R0c9f1e5f6d5f42c4" /><Relationship Type="http://schemas.openxmlformats.org/officeDocument/2006/relationships/slide" Target="/ppt/slides/slide4.xml" Id="R7caecc1688ac49b4" /><Relationship Type="http://schemas.openxmlformats.org/officeDocument/2006/relationships/slide" Target="/ppt/slides/slide5.xml" Id="Rec03776efb484af5" /><Relationship Type="http://schemas.openxmlformats.org/officeDocument/2006/relationships/slide" Target="/ppt/slides/slide6.xml" Id="Rf1f995004b8540a5" /><Relationship Type="http://schemas.openxmlformats.org/officeDocument/2006/relationships/slide" Target="/ppt/slides/slide7.xml" Id="R172f79881bdc4261" /><Relationship Type="http://schemas.openxmlformats.org/officeDocument/2006/relationships/slide" Target="/ppt/slides/slide8.xml" Id="R1f72d008906445d5" /><Relationship Type="http://schemas.openxmlformats.org/officeDocument/2006/relationships/slide" Target="/ppt/slides/slide9.xml" Id="R55f40306360141d2" /><Relationship Type="http://schemas.openxmlformats.org/officeDocument/2006/relationships/slide" Target="/ppt/slides/slide10.xml" Id="Rb4d35fd0fea843dc" /><Relationship Type="http://schemas.openxmlformats.org/officeDocument/2006/relationships/slide" Target="/ppt/slides/slide11.xml" Id="R0bf1b5cace7045cf" /><Relationship Type="http://schemas.openxmlformats.org/officeDocument/2006/relationships/slide" Target="/ppt/slides/slide12.xml" Id="Rf6dccb072bb1434f" /><Relationship Type="http://schemas.openxmlformats.org/officeDocument/2006/relationships/slide" Target="/ppt/slides/slide13.xml" Id="R6c4f8716a36f444a" /><Relationship Type="http://schemas.openxmlformats.org/officeDocument/2006/relationships/slide" Target="/ppt/slides/slide14.xml" Id="R8e579ac111d544fc" /><Relationship Type="http://schemas.openxmlformats.org/officeDocument/2006/relationships/slide" Target="/ppt/slides/slide15.xml" Id="R349843e9cd524798" /><Relationship Type="http://schemas.openxmlformats.org/officeDocument/2006/relationships/slide" Target="/ppt/slides/slide16.xml" Id="R12e4456792084bc5" /><Relationship Type="http://schemas.openxmlformats.org/officeDocument/2006/relationships/slide" Target="/ppt/slides/slide17.xml" Id="Rf5d7b7d9e3cf47ff" /><Relationship Type="http://schemas.openxmlformats.org/officeDocument/2006/relationships/slide" Target="/ppt/slides/slide18.xml" Id="Rf8e5fc1f5a6f4791" /><Relationship Type="http://schemas.openxmlformats.org/officeDocument/2006/relationships/slide" Target="/ppt/slides/slide19.xml" Id="R62ac1dc67a624c8d" /><Relationship Type="http://schemas.openxmlformats.org/officeDocument/2006/relationships/slide" Target="/ppt/slides/slide20.xml" Id="R049f93e59a46472e" /><Relationship Type="http://schemas.openxmlformats.org/officeDocument/2006/relationships/slide" Target="/ppt/slides/slide21.xml" Id="R96e93636ceb54f74" /><Relationship Type="http://schemas.openxmlformats.org/officeDocument/2006/relationships/slide" Target="/ppt/slides/slide22.xml" Id="Rc5c9fef59c7d4afb" /><Relationship Type="http://schemas.openxmlformats.org/officeDocument/2006/relationships/slide" Target="/ppt/slides/slide23.xml" Id="R8c7f627688bb4313" /><Relationship Type="http://schemas.openxmlformats.org/officeDocument/2006/relationships/slide" Target="/ppt/slides/slide24.xml" Id="R67416cb541e447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c0425ddd440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65c484d5dc4d06" /><Relationship Type="http://schemas.openxmlformats.org/officeDocument/2006/relationships/notesMaster" Target="/ppt/notesMasters/notesMaster1.xml" Id="R718e22b894164b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07bc790bd47e7" /><Relationship Type="http://schemas.openxmlformats.org/officeDocument/2006/relationships/notesMaster" Target="/ppt/notesMasters/notesMaster1.xml" Id="Rdf5bdb7f4abf4c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1b6179da97484f" /><Relationship Type="http://schemas.openxmlformats.org/officeDocument/2006/relationships/notesMaster" Target="/ppt/notesMasters/notesMaster1.xml" Id="R9455b2151c214c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c29d8767a94296" /><Relationship Type="http://schemas.openxmlformats.org/officeDocument/2006/relationships/notesMaster" Target="/ppt/notesMasters/notesMaster1.xml" Id="R28423a26cfd042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d3f27a3df14b70" /><Relationship Type="http://schemas.openxmlformats.org/officeDocument/2006/relationships/notesMaster" Target="/ppt/notesMasters/notesMaster1.xml" Id="R92882a93a4464d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388558ba914e4f" /><Relationship Type="http://schemas.openxmlformats.org/officeDocument/2006/relationships/notesMaster" Target="/ppt/notesMasters/notesMaster1.xml" Id="R1f71b97a11634f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f9a22f1db143ec" /><Relationship Type="http://schemas.openxmlformats.org/officeDocument/2006/relationships/notesMaster" Target="/ppt/notesMasters/notesMaster1.xml" Id="Ra77f3ca344dc4f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8f5fd4ae4044a4" /><Relationship Type="http://schemas.openxmlformats.org/officeDocument/2006/relationships/notesMaster" Target="/ppt/notesMasters/notesMaster1.xml" Id="R4db0b0a3cf974d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37f7f5687647fc" /><Relationship Type="http://schemas.openxmlformats.org/officeDocument/2006/relationships/notesMaster" Target="/ppt/notesMasters/notesMaster1.xml" Id="R7ebea81d795749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dead925a294282" /><Relationship Type="http://schemas.openxmlformats.org/officeDocument/2006/relationships/notesMaster" Target="/ppt/notesMasters/notesMaster1.xml" Id="Raa38ee65ebae46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3d28b3e85f4593" /><Relationship Type="http://schemas.openxmlformats.org/officeDocument/2006/relationships/notesMaster" Target="/ppt/notesMasters/notesMaster1.xml" Id="R06e216ed793048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350b84b89e45b8" /><Relationship Type="http://schemas.openxmlformats.org/officeDocument/2006/relationships/notesMaster" Target="/ppt/notesMasters/notesMaster1.xml" Id="R91b35358d25d43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3251ae9bdf4671" /><Relationship Type="http://schemas.openxmlformats.org/officeDocument/2006/relationships/notesMaster" Target="/ppt/notesMasters/notesMaster1.xml" Id="R426a69fccba043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55c7ac21a9417f" /><Relationship Type="http://schemas.openxmlformats.org/officeDocument/2006/relationships/notesMaster" Target="/ppt/notesMasters/notesMaster1.xml" Id="R7d5b2e8fc07b47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d0282e8a7c42fa" /><Relationship Type="http://schemas.openxmlformats.org/officeDocument/2006/relationships/notesMaster" Target="/ppt/notesMasters/notesMaster1.xml" Id="Rd95db9778b834e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cf1134497f4ba8" /><Relationship Type="http://schemas.openxmlformats.org/officeDocument/2006/relationships/notesMaster" Target="/ppt/notesMasters/notesMaster1.xml" Id="Rc19377679a9641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36f13cf8004d73" /><Relationship Type="http://schemas.openxmlformats.org/officeDocument/2006/relationships/notesMaster" Target="/ppt/notesMasters/notesMaster1.xml" Id="R1f0480b66c8946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ebc314ba0c401e" /><Relationship Type="http://schemas.openxmlformats.org/officeDocument/2006/relationships/notesMaster" Target="/ppt/notesMasters/notesMaster1.xml" Id="R7f7701d283834a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46f70c8070477e" /><Relationship Type="http://schemas.openxmlformats.org/officeDocument/2006/relationships/notesMaster" Target="/ppt/notesMasters/notesMaster1.xml" Id="R8756527b46754d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8e5d072c7644bb" /><Relationship Type="http://schemas.openxmlformats.org/officeDocument/2006/relationships/notesMaster" Target="/ppt/notesMasters/notesMaster1.xml" Id="Re470a492d38d45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afdc64f0e147dd" /><Relationship Type="http://schemas.openxmlformats.org/officeDocument/2006/relationships/notesMaster" Target="/ppt/notesMasters/notesMaster1.xml" Id="R51b1250bdc3d40e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d63581c630438d" /><Relationship Type="http://schemas.openxmlformats.org/officeDocument/2006/relationships/notesMaster" Target="/ppt/notesMasters/notesMaster1.xml" Id="R03ab8de3eb29469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dde875d6e649f0" /><Relationship Type="http://schemas.openxmlformats.org/officeDocument/2006/relationships/notesMaster" Target="/ppt/notesMasters/notesMaster1.xml" Id="Re6f6eef0e28e4e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44847842a1b407a" /><Relationship Type="http://schemas.openxmlformats.org/officeDocument/2006/relationships/notesMaster" Target="/ppt/notesMasters/notesMaster1.xml" Id="R489f67ba98cf41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throughline: product design depth plus the ability to ship in code.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1: https://pitch.com/v/slide-deck-jq3j7w</a:t>
            </a:r>
          </a:p>
          <a:p xmlns:a="http://schemas.openxmlformats.org/drawingml/2006/main">
            <a:r>
              <a:t>- User-provided Pitch deck, slide 19: https://pitch.com/v/slide-deck-jq3j7w</a:t>
            </a:r>
          </a:p>
          <a:p xmlns:a="http://schemas.openxmlformats.org/drawingml/2006/main">
            <a:r>
              <a:t>- User-provided Pitch deck, slide 24: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 without slide numbers or false section parity.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company scale before the product.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code-first as a product decision, not a shortcut.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20: https://pitch.com/v/slide-deck-jq3j7w</a:t>
            </a:r>
          </a:p>
          <a:p xmlns:a="http://schemas.openxmlformats.org/drawingml/2006/main">
            <a:r>
              <a:t>- User-provided Pitch deck, slide 21: https://pitch.com/v/slide-deck-jq3j7w</a:t>
            </a:r>
          </a:p>
          <a:p xmlns:a="http://schemas.openxmlformats.org/drawingml/2006/main">
            <a:r>
              <a:t>- User-provided Pitch deck, slide 22: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company scale before the product.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feature set to the working model uncovered in research.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8: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about what the source deck claims: a six-figure deal and the biggest customer yet.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18: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company scale before the product.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research insight as a diagnosis, not a list of bullets.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6: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order of operations clearly.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5: https://pitch.com/v/slide-deck-jq3j7w</a:t>
            </a:r>
          </a:p>
          <a:p xmlns:a="http://schemas.openxmlformats.org/drawingml/2006/main">
            <a:r>
              <a:t>- User-provided Pitch deck, slide 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feature set to the working model uncovered in research.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8: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apparent conflict between one week and eight months.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8: https://pitch.com/v/slide-deck-jq3j7w</a:t>
            </a:r>
          </a:p>
          <a:p xmlns:a="http://schemas.openxmlformats.org/drawingml/2006/main">
            <a:r>
              <a:t>- User-provided Pitch deck, slide 10: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product synthesis slide, not four separate reveals.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14: https://pitch.com/v/slide-deck-jq3j7w</a:t>
            </a:r>
          </a:p>
          <a:p xmlns:a="http://schemas.openxmlformats.org/drawingml/2006/main">
            <a:r>
              <a:t>- User-provided Pitch deck, slide 15: https://pitch.com/v/slide-deck-jq3j7w</a:t>
            </a:r>
          </a:p>
          <a:p xmlns:a="http://schemas.openxmlformats.org/drawingml/2006/main">
            <a:r>
              <a:t>- User-provided Pitch deck, slide 16: https://pitch.com/v/slide-deck-jq3j7w</a:t>
            </a:r>
          </a:p>
          <a:p xmlns:a="http://schemas.openxmlformats.org/drawingml/2006/main"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product synthesis slide, not four separate reveals.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14: https://pitch.com/v/slide-deck-jq3j7w</a:t>
            </a:r>
          </a:p>
          <a:p xmlns:a="http://schemas.openxmlformats.org/drawingml/2006/main">
            <a:r>
              <a:t>- User-provided Pitch deck, slide 15: https://pitch.com/v/slide-deck-jq3j7w</a:t>
            </a:r>
          </a:p>
          <a:p xmlns:a="http://schemas.openxmlformats.org/drawingml/2006/main">
            <a:r>
              <a:t>- User-provided Pitch deck, slide 16: https://pitch.com/v/slide-deck-jq3j7w</a:t>
            </a:r>
          </a:p>
          <a:p xmlns:a="http://schemas.openxmlformats.org/drawingml/2006/main"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product synthesis slide, not four separate reveals.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14: https://pitch.com/v/slide-deck-jq3j7w</a:t>
            </a:r>
          </a:p>
          <a:p xmlns:a="http://schemas.openxmlformats.org/drawingml/2006/main">
            <a:r>
              <a:t>- User-provided Pitch deck, slide 15: https://pitch.com/v/slide-deck-jq3j7w</a:t>
            </a:r>
          </a:p>
          <a:p xmlns:a="http://schemas.openxmlformats.org/drawingml/2006/main">
            <a:r>
              <a:t>- User-provided Pitch deck, slide 16: https://pitch.com/v/slide-deck-jq3j7w</a:t>
            </a:r>
          </a:p>
          <a:p xmlns:a="http://schemas.openxmlformats.org/drawingml/2006/main"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product synthesis slide, not four separate reveals.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14: https://pitch.com/v/slide-deck-jq3j7w</a:t>
            </a:r>
          </a:p>
          <a:p xmlns:a="http://schemas.openxmlformats.org/drawingml/2006/main">
            <a:r>
              <a:t>- User-provided Pitch deck, slide 15: https://pitch.com/v/slide-deck-jq3j7w</a:t>
            </a:r>
          </a:p>
          <a:p xmlns:a="http://schemas.openxmlformats.org/drawingml/2006/main">
            <a:r>
              <a:t>- User-provided Pitch deck, slide 16: https://pitch.com/v/slide-deck-jq3j7w</a:t>
            </a:r>
          </a:p>
          <a:p xmlns:a="http://schemas.openxmlformats.org/drawingml/2006/main"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about what the source deck claims: a six-figure deal and the biggest customer yet.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18: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product and constraint, not the stack or AI credits.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1: https://pitch.com/v/slide-deck-jq3j7w</a:t>
            </a:r>
          </a:p>
          <a:p xmlns:a="http://schemas.openxmlformats.org/drawingml/2006/main">
            <a:r>
              <a:t>- User-provided Pitch deck, slide 19: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code-first as a product decision, not a shortcut.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20: https://pitch.com/v/slide-deck-jq3j7w</a:t>
            </a:r>
          </a:p>
          <a:p xmlns:a="http://schemas.openxmlformats.org/drawingml/2006/main">
            <a:r>
              <a:t>- User-provided Pitch deck, slide 21: https://pitch.com/v/slide-deck-jq3j7w</a:t>
            </a:r>
          </a:p>
          <a:p xmlns:a="http://schemas.openxmlformats.org/drawingml/2006/main">
            <a:r>
              <a:t>- User-provided Pitch deck, slide 22: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outcome of the code-first build.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23: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system’s scope without the redundant phrase 'first design system redesigned.'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24: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what the foundation artifact contains before moving to motion.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25: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motion back to the design system rather than presenting it as a separate gallery.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26: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positioning from slide one.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1e21ff64f45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c030e67eb4d93" /><Relationship Type="http://schemas.openxmlformats.org/officeDocument/2006/relationships/slideLayout" Target="/ppt/slideLayouts/slideLayout1.xml" Id="Re630a458aef64e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0a458aef64e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3edda350d47e1" /><Relationship Type="http://schemas.openxmlformats.org/officeDocument/2006/relationships/notesSlide" Target="/ppt/notesSlides/notesSlide1.xml" Id="R5a015f0188e94e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a5838f9004b36" /><Relationship Type="http://schemas.openxmlformats.org/officeDocument/2006/relationships/notesSlide" Target="/ppt/notesSlides/notesSlide2.xml" Id="Rf7aa01cae6574f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a938ba4364dd7" /><Relationship Type="http://schemas.openxmlformats.org/officeDocument/2006/relationships/image" Target="/ppt/media/image.png" Id="Rced7719a9e674916" /><Relationship Type="http://schemas.openxmlformats.org/officeDocument/2006/relationships/notesSlide" Target="/ppt/notesSlides/notesSlide3.xml" Id="R34117592f52741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eb49f7fe3408b" /><Relationship Type="http://schemas.openxmlformats.org/officeDocument/2006/relationships/image" Target="/ppt/media/image2.png" Id="R01449393cc6847bb" /><Relationship Type="http://schemas.openxmlformats.org/officeDocument/2006/relationships/image" Target="/ppt/media/image3.png" Id="R370ee044971a4467" /><Relationship Type="http://schemas.openxmlformats.org/officeDocument/2006/relationships/image" Target="/ppt/media/image4.png" Id="R6304656e260c4821" /><Relationship Type="http://schemas.openxmlformats.org/officeDocument/2006/relationships/notesSlide" Target="/ppt/notesSlides/notesSlide4.xml" Id="R1a08b7abcd4643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183b2801c467c" /><Relationship Type="http://schemas.openxmlformats.org/officeDocument/2006/relationships/image" Target="/ppt/media/image5.png" Id="Re9dc08a4f86a4b1c" /><Relationship Type="http://schemas.openxmlformats.org/officeDocument/2006/relationships/notesSlide" Target="/ppt/notesSlides/notesSlide5.xml" Id="Rb103bb80769d41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4fc5bb5404e84" /><Relationship Type="http://schemas.openxmlformats.org/officeDocument/2006/relationships/image" Target="/ppt/media/image6.png" Id="R8cf334cbe93848bb" /><Relationship Type="http://schemas.openxmlformats.org/officeDocument/2006/relationships/notesSlide" Target="/ppt/notesSlides/notesSlide6.xml" Id="R339b665936984c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e01d7830946ae" /><Relationship Type="http://schemas.openxmlformats.org/officeDocument/2006/relationships/notesSlide" Target="/ppt/notesSlides/notesSlide7.xml" Id="Rd7b382e11ed346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1cd1626cc4d02" /><Relationship Type="http://schemas.openxmlformats.org/officeDocument/2006/relationships/image" Target="/ppt/media/image6.png" Id="R3811c4d84f90423a" /><Relationship Type="http://schemas.openxmlformats.org/officeDocument/2006/relationships/notesSlide" Target="/ppt/notesSlides/notesSlide8.xml" Id="Ra1fd5d2153144e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b79c333c6453a" /><Relationship Type="http://schemas.openxmlformats.org/officeDocument/2006/relationships/notesSlide" Target="/ppt/notesSlides/notesSlide9.xml" Id="Re70fb01a50a541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4138bc7f0460d" /><Relationship Type="http://schemas.openxmlformats.org/officeDocument/2006/relationships/notesSlide" Target="/ppt/notesSlides/notesSlide10.xml" Id="R1f9f5a3211fb4b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8ef0d88564c48" /><Relationship Type="http://schemas.openxmlformats.org/officeDocument/2006/relationships/image" Target="/ppt/media/image6.png" Id="R9d09bf1f322f4ac8" /><Relationship Type="http://schemas.openxmlformats.org/officeDocument/2006/relationships/notesSlide" Target="/ppt/notesSlides/notesSlide11.xml" Id="Rc7b8782dbd014b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94ff6741843d0" /><Relationship Type="http://schemas.openxmlformats.org/officeDocument/2006/relationships/notesSlide" Target="/ppt/notesSlides/notesSlide12.xml" Id="Rfff80806ae7643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e41bef03b4516" /><Relationship Type="http://schemas.openxmlformats.org/officeDocument/2006/relationships/image" Target="/ppt/media/image7.png" Id="Rd50026615ecf4b56" /><Relationship Type="http://schemas.openxmlformats.org/officeDocument/2006/relationships/notesSlide" Target="/ppt/notesSlides/notesSlide13.xml" Id="Rb0a65114b1ad45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fdd6df4344ddd" /><Relationship Type="http://schemas.openxmlformats.org/officeDocument/2006/relationships/image" Target="/ppt/media/image8.png" Id="R2b8e51aa1183493a" /><Relationship Type="http://schemas.openxmlformats.org/officeDocument/2006/relationships/notesSlide" Target="/ppt/notesSlides/notesSlide14.xml" Id="R699f12d29d024b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eeb2e89d745e8" /><Relationship Type="http://schemas.openxmlformats.org/officeDocument/2006/relationships/image" Target="/ppt/media/image9.png" Id="R12c7e650368645ba" /><Relationship Type="http://schemas.openxmlformats.org/officeDocument/2006/relationships/notesSlide" Target="/ppt/notesSlides/notesSlide15.xml" Id="Rd5a08e6c8f7a48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4860ed84a4b61" /><Relationship Type="http://schemas.openxmlformats.org/officeDocument/2006/relationships/image" Target="/ppt/media/image10.png" Id="R03162ac1a9d248ff" /><Relationship Type="http://schemas.openxmlformats.org/officeDocument/2006/relationships/notesSlide" Target="/ppt/notesSlides/notesSlide16.xml" Id="Rf3d3dfa96abf47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72e2f73044370" /><Relationship Type="http://schemas.openxmlformats.org/officeDocument/2006/relationships/notesSlide" Target="/ppt/notesSlides/notesSlide17.xml" Id="R2aed6bbb6a674f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164c1eb5e4c9b" /><Relationship Type="http://schemas.openxmlformats.org/officeDocument/2006/relationships/image" Target="/ppt/media/image2.png" Id="R3b9e9517a084451b" /><Relationship Type="http://schemas.openxmlformats.org/officeDocument/2006/relationships/image" Target="/ppt/media/image11.png" Id="R3471b393009841f7" /><Relationship Type="http://schemas.openxmlformats.org/officeDocument/2006/relationships/notesSlide" Target="/ppt/notesSlides/notesSlide18.xml" Id="R87daa68d8a7e41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5404467eb496c" /><Relationship Type="http://schemas.openxmlformats.org/officeDocument/2006/relationships/image" Target="/ppt/media/image2.png" Id="Red662c959cc74434" /><Relationship Type="http://schemas.openxmlformats.org/officeDocument/2006/relationships/image" Target="/ppt/media/image3.png" Id="R2a4ef99124f44f36" /><Relationship Type="http://schemas.openxmlformats.org/officeDocument/2006/relationships/image" Target="/ppt/media/image4.png" Id="R2fde4b52fb194dd3" /><Relationship Type="http://schemas.openxmlformats.org/officeDocument/2006/relationships/notesSlide" Target="/ppt/notesSlides/notesSlide19.xml" Id="R26f23b4cf7db49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970545d5b43be" /><Relationship Type="http://schemas.openxmlformats.org/officeDocument/2006/relationships/image" Target="/ppt/media/image2.png" Id="Rf7e3474140894b81" /><Relationship Type="http://schemas.openxmlformats.org/officeDocument/2006/relationships/image" Target="/ppt/media/image12.png" Id="R0bf66a0a0afc489f" /><Relationship Type="http://schemas.openxmlformats.org/officeDocument/2006/relationships/notesSlide" Target="/ppt/notesSlides/notesSlide20.xml" Id="R764c0cbeb62845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7876ed73a4615" /><Relationship Type="http://schemas.openxmlformats.org/officeDocument/2006/relationships/image" Target="/ppt/media/image13.png" Id="Ra95ba9ac276e4df5" /><Relationship Type="http://schemas.openxmlformats.org/officeDocument/2006/relationships/notesSlide" Target="/ppt/notesSlides/notesSlide21.xml" Id="Rd530bb4de6c445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9c93c8bbc4c76" /><Relationship Type="http://schemas.openxmlformats.org/officeDocument/2006/relationships/image" Target="/ppt/media/image14.png" Id="Rc62ce819fbad4731" /><Relationship Type="http://schemas.openxmlformats.org/officeDocument/2006/relationships/notesSlide" Target="/ppt/notesSlides/notesSlide22.xml" Id="R768551dc0d6f47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db1df5cf4423d" /><Relationship Type="http://schemas.openxmlformats.org/officeDocument/2006/relationships/image" Target="/ppt/media/image2.png" Id="R0e6fb797b4e9420b" /><Relationship Type="http://schemas.openxmlformats.org/officeDocument/2006/relationships/image" Target="/ppt/media/image15.png" Id="Rf4118a21725a4db4" /><Relationship Type="http://schemas.openxmlformats.org/officeDocument/2006/relationships/notesSlide" Target="/ppt/notesSlides/notesSlide23.xml" Id="R741df700a82642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518ffa76f4361" /><Relationship Type="http://schemas.openxmlformats.org/officeDocument/2006/relationships/notesSlide" Target="/ppt/notesSlides/notesSlide24.xml" Id="Rb7d058072e884c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ustafa-title">
            <a:extLst xmlns:a="http://schemas.openxmlformats.org/drawingml/2006/main">
              <a:ext uri="{FF2B5EF4-FFF2-40B4-BE49-F238E27FC236}">
                <a16:creationId xmlns:a16="http://schemas.microsoft.com/office/drawing/2014/main" id="{DD52F977-3231-4397-8706-B701AB5A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0" i="0">
                <a:solidFill>
                  <a:srgbClr val="151716"/>
                </a:solidFill>
              </a:defRPr>
            </a:pPr>
            <a:r>
              <a:rPr sz="5400" b="0" i="0">
                <a:solidFill>
                  <a:srgbClr val="151716"/>
                </a:solidFill>
              </a:rPr>
              <a:t>Mustafa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CAF542-5EC5-4001-A372-FEFE6705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51716"/>
                </a:solidFill>
              </a:defRPr>
            </a:pPr>
            <a:r>
              <a:rPr sz="2100" b="1" i="0">
                <a:solidFill>
                  <a:srgbClr val="151716"/>
                </a:solidFill>
              </a:rPr>
              <a:t>Product designer who codes.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867441-6AD0-43A5-A733-F214FAAB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I design systems, products, and interfaces, then stay close enough to the code to help ship them.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5A6D22-D64A-4379-9899-B4048FF9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F"/>
          </a:solidFill>
          <a:ln xmlns:a="http://schemas.openxmlformats.org/drawingml/2006/main" w="0">
            <a:solidFill>
              <a:srgbClr val="DD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75644E-F319-4C82-89BC-1E8AC23B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858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FC81240-104F-44F9-AE8B-A8D51AD3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858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Built the core platform for Educative’s B2B offerings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5C67AF-0F40-4F49-9754-08B49400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76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C722563-F9D1-4CB2-87C6-BEB9E048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763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Shipped a FERPA-compliant recruitment platform in under two weeks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0ED5685-260C-4729-AAA5-ED43A314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0684BD-DC6C-49E5-AAE2-6797ADD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66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Led </a:t>
            </a:r>
            <a:r>
              <a:rPr sz="1425" b="0" i="0">
                <a:solidFill>
                  <a:srgbClr val="151716"/>
                </a:solidFill>
              </a:rPr>
              <a:t>Educative’s</a:t>
            </a:r>
            <a:r>
              <a:rPr sz="1425" b="0" i="0">
                <a:solidFill>
                  <a:srgbClr val="151716"/>
                </a:solidFill>
              </a:rPr>
              <a:t> first design system across B2C and B2B</a:t>
            </a:r>
          </a:p>
        </p:txBody>
      </p:sp>
    </p:spTree>
    <p:extLst>
      <p:ext uri="{BB962C8B-B14F-4D97-AF65-F5344CB8AC3E}">
        <p14:creationId xmlns:p14="http://schemas.microsoft.com/office/powerpoint/2010/main" val="802661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0FDADAA-A3B2-48D6-96FD-5A1A792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SELECED WORK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42366-E804-43C0-8F0D-9847F5DE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151716"/>
                </a:solidFill>
              </a:defRPr>
            </a:pPr>
            <a:r>
              <a:rPr sz="3750" b="0" i="0">
                <a:solidFill>
                  <a:srgbClr val="151716"/>
                </a:solidFill>
              </a:rPr>
              <a:t>Three projects, one throughline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E32CA5-8974-4C76-9C75-BC0CD6E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0">
            <a:solidFill>
              <a:srgbClr val="1517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50621B3-F16B-45AE-A770-4EF12527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779D733-C759-4BB2-B39D-E582DDCD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38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Workflows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4A2BE26-34B5-4504-9FAF-C1107895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Product strategy and interaction design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3703713-D932-4C3B-9D4D-A9CEDD96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F"/>
          </a:solidFill>
          <a:ln xmlns:a="http://schemas.openxmlformats.org/drawingml/2006/main" w="0">
            <a:solidFill>
              <a:srgbClr val="DD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F3CE85E-802B-4C3E-8A97-B28A638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10C8ED2-4F00-4A3E-8EAB-E95B2F51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Capstone Matchmaker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35A5D4B-5FF3-4F38-878E-949025A0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Design and full-stack development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C996A1-B1CF-42F3-8362-321A8383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F"/>
          </a:solidFill>
          <a:ln xmlns:a="http://schemas.openxmlformats.org/drawingml/2006/main" w="0">
            <a:solidFill>
              <a:srgbClr val="DD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3FB1CC1-C564-4B88-ADE7-88AB39DB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794B1A9-E25E-4FEF-BD91-77B17BA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Design System + Motion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1D7511-9787-461C-AB9C-8AFBA611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Foundations, components, and behavior</a:t>
            </a:r>
          </a:p>
        </p:txBody>
      </p:sp>
    </p:spTree>
    <p:extLst>
      <p:ext uri="{BB962C8B-B14F-4D97-AF65-F5344CB8AC3E}">
        <p14:creationId xmlns:p14="http://schemas.microsoft.com/office/powerpoint/2010/main" val="739911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</a:t>
            </a:r>
            <a:r>
              <a:rPr sz="1650" b="0" i="0">
                <a:solidFill>
                  <a:srgbClr val="D7E0DB"/>
                </a:solidFill>
              </a:rPr>
              <a:t>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7719a9e674916"/>
          <a:srcRect xmlns:a="http://schemas.openxmlformats.org/drawingml/2006/main" l="0" t="13786" r="0" b="13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62300"/>
            <a:ext cx="1047750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49393cc6847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249284" y="3393183"/>
            <a:ext cx="8028431" cy="4255558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APPROACH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Code-first kept the build focused.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2083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moved from design intent to working components with Radix UI and shadcn/ui, using AI-assisted development to accelerate implementation.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83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I owned the design end to end including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1295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12954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Product decisions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16954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16954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Information architecture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2095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20955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Interaction model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2495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24955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Quality bar</a:t>
            </a:r>
          </a:p>
        </p:txBody>
      </p:sp>
      <p:pic>
        <p:nvPicPr>
          <p:cNvPr id="3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ee044971a4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33601" y="3543300"/>
            <a:ext cx="7772400" cy="3798812"/>
          </a:xfrm>
          <a:prstGeom xmlns:a="http://schemas.openxmlformats.org/drawingml/2006/main" prst="rect">
            <a:avLst/>
          </a:prstGeom>
        </p:spPr>
      </p:pic>
      <p:pic>
        <p:nvPicPr>
          <p:cNvPr id="3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49393cc6847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8459" y="3393183"/>
            <a:ext cx="8028431" cy="4255558"/>
          </a:xfrm>
          <a:prstGeom xmlns:a="http://schemas.openxmlformats.org/drawingml/2006/main" prst="rect">
            <a:avLst/>
          </a:prstGeom>
        </p:spPr>
      </p:pic>
      <p:pic>
        <p:nvPicPr>
          <p:cNvPr id="35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4656e260c4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543300"/>
            <a:ext cx="7772400" cy="3773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</a:t>
            </a:r>
            <a:r>
              <a:rPr sz="1650" b="0" i="0">
                <a:solidFill>
                  <a:srgbClr val="D7E0DB"/>
                </a:solidFill>
              </a:rPr>
              <a:t>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c08a4f86a4b1c"/>
          <a:srcRect xmlns:a="http://schemas.openxmlformats.org/drawingml/2006/main" l="0" t="13786" r="0" b="13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62300"/>
            <a:ext cx="1047750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PRODUCT DIRECTION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I designed the product according to how we worked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self-contained knowledge base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multiplayer editor for tasks and comments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review system modeled on pull requests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shared hierarchy from groups to subtasks</a:t>
            </a:r>
          </a:p>
        </p:txBody>
      </p:sp>
      <p:pic>
        <p:nvPicPr>
          <p:cNvPr id="2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334cbe93848bb"/>
          <a:srcRect xmlns:a="http://schemas.openxmlformats.org/drawingml/2006/main" l="20934" t="0" r="209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076450"/>
            <a:ext cx="561975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63731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$100k</a:t>
            </a:r>
            <a:r>
              <a:rPr sz="5700" b="0" i="0">
                <a:solidFill>
                  <a:srgbClr val="F7F8F7"/>
                </a:solidFill>
              </a:rPr>
              <a:t> deal</a:t>
            </a:r>
            <a:r>
              <a:rPr sz="5700" b="0" i="0">
                <a:solidFill>
                  <a:srgbClr val="F7F8F7"/>
                </a:solidFill>
              </a:rPr>
              <a:t> closed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0" i="0">
                <a:solidFill>
                  <a:srgbClr val="B9CBB8"/>
                </a:solidFill>
              </a:defRPr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Workflows helped Educative close its biggest customer yet.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83E"/>
          </a:solidFill>
          <a:ln xmlns:a="http://schemas.openxmlformats.org/drawingml/2006/main" w="0">
            <a:solidFill>
              <a:srgbClr val="2848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The outcome tied the product directly to enterprise growth.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</a:t>
            </a:r>
            <a:r>
              <a:rPr sz="1650" b="0" i="0">
                <a:solidFill>
                  <a:srgbClr val="D7E0DB"/>
                </a:solidFill>
              </a:rPr>
              <a:t>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1c4d84f90423a"/>
          <a:srcRect xmlns:a="http://schemas.openxmlformats.org/drawingml/2006/main" l="0" t="13786" r="0" b="13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62300"/>
            <a:ext cx="1047750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07BED41-AC7D-4A89-9C0C-7893645B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RESEARCH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DC503A-910F-4B7F-A3FB-5AAF0BA5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28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I spoke with 18 engineering managers and 13 engineers.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9D3707-2224-42F0-B6E5-C2CB1BA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51716"/>
                </a:solidFill>
              </a:defRPr>
            </a:pPr>
            <a:r>
              <a:rPr sz="1500" b="1" i="0">
                <a:solidFill>
                  <a:srgbClr val="151716"/>
                </a:solidFill>
              </a:rPr>
              <a:t>Goal: Understand the problem space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D13294-7675-4DCB-BA69-38308C85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F"/>
          </a:solidFill>
          <a:ln xmlns:a="http://schemas.openxmlformats.org/drawingml/2006/main" w="0">
            <a:solidFill>
              <a:srgbClr val="F7ED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B5B35E8-142F-40FB-94AB-6ABE41B4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575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EF"/>
          </a:solidFill>
          <a:ln xmlns:a="http://schemas.openxmlformats.org/drawingml/2006/main" w="0">
            <a:solidFill>
              <a:srgbClr val="EFF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42ADD2C-D966-4381-A6C1-CBAC1160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Assumption</a:t>
            </a:r>
            <a:r>
              <a:rPr sz="1200" b="1" i="0">
                <a:solidFill>
                  <a:srgbClr val="6F716E"/>
                </a:solidFill>
              </a:rPr>
              <a:t>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77AA5B7-85ED-4199-8B4C-0114AC47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tooling was broken.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68C131B-10D2-4A0F-A9FC-91D78D6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6C9E278-F035-4C25-B214-38BFAC97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Standardize content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EDCFF7-9968-4D4E-881C-3D572236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CE70553-B214-4469-8FE9-0CA3BF74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Fix the journey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60ECB0-43B4-4B6A-BB94-2FB1B529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7A168-9CF4-432E-8C09-1F5E276B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Add more process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19D0A36-3E40-4D12-B438-63FDE7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Findings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32A8CFE-6B0E-44DB-8812-AD485B37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04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workflow </a:t>
            </a:r>
            <a:r>
              <a:rPr sz="2850">
                <a:solidFill>
                  <a:srgbClr val="151716"/>
                </a:solidFill>
              </a:rPr>
              <a:t>was not optimized for us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668920A-D64D-44B1-BB97-A4BC2E4D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A33D9CD-8024-493E-A462-C04F5EA5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053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Content was </a:t>
            </a:r>
            <a:r>
              <a:rPr sz="1350" b="0" i="0">
                <a:solidFill>
                  <a:srgbClr val="151716"/>
                </a:solidFill>
              </a:rPr>
              <a:t>searchable but scattered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1FD6C4A-5B4A-47E0-9657-FFDB817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86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6A45CC9-BF04-4EB3-A81C-FCEC4AEA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0863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Lack of updates</a:t>
            </a:r>
            <a:r>
              <a:rPr sz="1350">
                <a:solidFill>
                  <a:srgbClr val="151716"/>
                </a:solidFill>
              </a:rPr>
              <a:t>, lots of things remained stale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0ED315F-2556-40F5-8318-29D497FC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67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1B1B97B-C013-4AD0-9327-D8FD31B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673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Existing tools worked for separate teams, but not when collaborating</a:t>
            </a:r>
          </a:p>
        </p:txBody>
      </p:sp>
    </p:spTree>
    <p:extLst>
      <p:ext uri="{BB962C8B-B14F-4D97-AF65-F5344CB8AC3E}">
        <p14:creationId xmlns:p14="http://schemas.microsoft.com/office/powerpoint/2010/main" val="1188820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ED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C5B785D-8C64-4C92-BEDF-53D9E7E3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PROBLEM FRAMING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D6C15A-7DB9-4D61-80B5-00AF6F44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0" i="0">
                <a:solidFill>
                  <a:srgbClr val="151716"/>
                </a:solidFill>
              </a:defRPr>
            </a:pPr>
            <a:r>
              <a:rPr sz="4050" b="0" i="0">
                <a:solidFill>
                  <a:srgbClr val="151716"/>
                </a:solidFill>
              </a:rPr>
              <a:t>I classified the problem into two parts: foundation and visibility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6E62DF7-76FA-4830-AB88-46BE8462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EC2"/>
          </a:solidFill>
          <a:ln xmlns:a="http://schemas.openxmlformats.org/drawingml/2006/main" w="0">
            <a:solidFill>
              <a:srgbClr val="CFBE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A875FE-08B8-43B2-A9D5-2A4FAED4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First-order problem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73FB3D1-120B-443A-857C-D1B4EDC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organize the work?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D585AA9-A3F0-4CFE-808A-52B14D44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Second-order problem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407CD2-E541-41E1-B6EF-0FE6ACB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make progress visible?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FF4CD9-147F-4B6C-A990-56A80B9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To make the progress visible, we needed to have a solid foundation to start first. Existing tools were opinionated. We wanted something that worke</a:t>
            </a:r>
            <a:r>
              <a:rPr sz="1500">
                <a:solidFill>
                  <a:srgbClr val="151716"/>
                </a:solidFill>
              </a:rPr>
              <a:t>d for all of our teams.</a:t>
            </a:r>
          </a:p>
        </p:txBody>
      </p:sp>
    </p:spTree>
    <p:extLst>
      <p:ext uri="{BB962C8B-B14F-4D97-AF65-F5344CB8AC3E}">
        <p14:creationId xmlns:p14="http://schemas.microsoft.com/office/powerpoint/2010/main" val="1912604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PRODUCT DIRECTION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I designed the product according to how we worked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self-contained knowledge base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multiplayer editor for tasks and comments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review system modeled on pull requests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shared hierarchy from groups to subtasks</a:t>
            </a:r>
          </a:p>
        </p:txBody>
      </p:sp>
      <p:pic>
        <p:nvPicPr>
          <p:cNvPr id="2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9bf1f322f4ac8"/>
          <a:srcRect xmlns:a="http://schemas.openxmlformats.org/drawingml/2006/main" l="20934" t="0" r="209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076450"/>
            <a:ext cx="561975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5ED6CB2-9707-4A97-B338-65DEB2FB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TIMELINE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541FCB-03BD-4158-9AEE-FFDD45E3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838200"/>
            <a:ext cx="10321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 i="0">
                <a:solidFill>
                  <a:srgbClr val="151716"/>
                </a:solidFill>
              </a:defRPr>
            </a:pPr>
            <a:r>
              <a:rPr sz="3825" b="0" i="0">
                <a:solidFill>
                  <a:srgbClr val="151716"/>
                </a:solidFill>
              </a:rPr>
              <a:t>I shipped a barebones MVP in one week and spent 8 months turning it into a 0 to 100 platform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44C466-A510-4FB6-8C49-6536F83B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F"/>
          </a:solidFill>
          <a:ln xmlns:a="http://schemas.openxmlformats.org/drawingml/2006/main" w="0">
            <a:solidFill>
              <a:srgbClr val="DD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435495E-001C-481A-8296-A17E279C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FE4"/>
          </a:solidFill>
          <a:ln xmlns:a="http://schemas.openxmlformats.org/drawingml/2006/main" w="0">
            <a:solidFill>
              <a:srgbClr val="F1DF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1D27BD-E9FA-4C61-B97D-58805500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Week 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2F1DAF-A106-4198-BD98-BD6EA08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MVP shipped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6F31C7-8B8A-4DA1-9363-AD0D0FF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296504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>
                <a:solidFill>
                  <a:srgbClr val="6F716E"/>
                </a:solidFill>
              </a:rPr>
              <a:t>Shipped fast, broke things, learned a lot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8B8F222-4925-4C6B-BF83-47283EB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FE4"/>
          </a:solidFill>
          <a:ln xmlns:a="http://schemas.openxmlformats.org/drawingml/2006/main" w="0">
            <a:solidFill>
              <a:srgbClr val="F1DF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36F2F8-8F6C-4A34-9BD9-8FD3665B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Months 2–4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3A9D840-E1E0-47E9-9FB6-B0D5AF34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Learned and rebuilt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CD82BF1-2043-4D6D-AF7D-56CFFA0A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57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Feedback tools like </a:t>
            </a:r>
            <a:r>
              <a:rPr sz="1275" b="0" i="0">
                <a:solidFill>
                  <a:srgbClr val="6F716E"/>
                </a:solidFill>
              </a:rPr>
              <a:t>Userback</a:t>
            </a:r>
            <a:r>
              <a:rPr sz="1275" b="0" i="0">
                <a:solidFill>
                  <a:srgbClr val="6F716E"/>
                </a:solidFill>
              </a:rPr>
              <a:t>, and analytics informed a few decisions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11D6E5E-33AA-42B6-9FDC-0DA53661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D16"/>
          </a:solidFill>
          <a:ln xmlns:a="http://schemas.openxmlformats.org/drawingml/2006/main" w="0">
            <a:solidFill>
              <a:srgbClr val="061D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7C162F-1D8F-440B-A406-52C502ED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 8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2EA142F-C30D-45C9-A4B4-E260259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Platform shipped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7705D4A-BD96-4BEE-A752-15A6FE62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Planning, review, and docs connected</a:t>
            </a:r>
          </a:p>
        </p:txBody>
      </p:sp>
    </p:spTree>
    <p:extLst>
      <p:ext uri="{BB962C8B-B14F-4D97-AF65-F5344CB8AC3E}">
        <p14:creationId xmlns:p14="http://schemas.microsoft.com/office/powerpoint/2010/main" val="8277827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what-shipped-eyebrow">
            <a:extLst xmlns:a="http://schemas.openxmlformats.org/drawingml/2006/main">
              <a:ext uri="{FF2B5EF4-FFF2-40B4-BE49-F238E27FC236}">
                <a16:creationId xmlns:a16="http://schemas.microsoft.com/office/drawing/2014/main" id="{0CB588FA-4B72-4FCC-A317-3D61D6EC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01D95293-9F4A-403A-BB2C-27F3A237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Task hub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026615ecf4b56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157162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what-shipped-eyebrow">
            <a:extLst xmlns:a="http://schemas.openxmlformats.org/drawingml/2006/main">
              <a:ext uri="{FF2B5EF4-FFF2-40B4-BE49-F238E27FC236}">
                <a16:creationId xmlns:a16="http://schemas.microsoft.com/office/drawing/2014/main" id="{96A3FAC7-CF71-4FDF-A570-790F2703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A02BCF8B-37EE-446C-96A7-AD96CDD6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Review hub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e51aa1183493a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157162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what-shipped-eyebrow">
            <a:extLst xmlns:a="http://schemas.openxmlformats.org/drawingml/2006/main">
              <a:ext uri="{FF2B5EF4-FFF2-40B4-BE49-F238E27FC236}">
                <a16:creationId xmlns:a16="http://schemas.microsoft.com/office/drawing/2014/main" id="{5273DF83-4309-4AAC-AF96-1D35F5F9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837216BE-DB25-47EB-8DD5-CB2D5742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Projects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7e650368645ba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157162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what-shipped-eyebrow">
            <a:extLst xmlns:a="http://schemas.openxmlformats.org/drawingml/2006/main">
              <a:ext uri="{FF2B5EF4-FFF2-40B4-BE49-F238E27FC236}">
                <a16:creationId xmlns:a16="http://schemas.microsoft.com/office/drawing/2014/main" id="{847AC51F-1E0A-487E-9C62-73F924CE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E7737103-6083-4BA8-8564-2A52D7EB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Document editor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62ac1a9d248ff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157162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63731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$100k</a:t>
            </a:r>
            <a:r>
              <a:rPr sz="5700" b="0" i="0">
                <a:solidFill>
                  <a:srgbClr val="F7F8F7"/>
                </a:solidFill>
              </a:rPr>
              <a:t> deal</a:t>
            </a:r>
            <a:r>
              <a:rPr sz="5700" b="0" i="0">
                <a:solidFill>
                  <a:srgbClr val="F7F8F7"/>
                </a:solidFill>
              </a:rPr>
              <a:t> closed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0" i="0">
                <a:solidFill>
                  <a:srgbClr val="B9CBB8"/>
                </a:solidFill>
              </a:defRPr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Workflows helped Educative close its biggest customer yet.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83E"/>
          </a:solidFill>
          <a:ln xmlns:a="http://schemas.openxmlformats.org/drawingml/2006/main" w="0">
            <a:solidFill>
              <a:srgbClr val="2848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The outcome tied the product directly to enterprise growth.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e9517a08445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750" y="2705100"/>
            <a:ext cx="10707624" cy="5095355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89D6E8B-F117-4C5E-AF3E-BC114BC0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6B09C"/>
                </a:solidFill>
              </a:defRPr>
            </a:pPr>
            <a:r>
              <a:rPr sz="1050" b="1" i="0">
                <a:solidFill>
                  <a:srgbClr val="D6B09C"/>
                </a:solidFill>
              </a:rPr>
              <a:t>CAPSTONE MATCHMAKER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5DFB5-10BB-4470-975A-FA73F8F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0" i="0">
                <a:solidFill>
                  <a:srgbClr val="F7F8F7"/>
                </a:solidFill>
              </a:defRPr>
            </a:pPr>
            <a:r>
              <a:rPr sz="3675" b="0" i="0">
                <a:solidFill>
                  <a:srgbClr val="F7F8F7"/>
                </a:solidFill>
              </a:rPr>
              <a:t>A FERPA-compliant recruitment platform, shipped in under two weeks.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F5632D-9224-4B21-8CA2-293C7BDC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D5E1DB"/>
                </a:solidFill>
              </a:defRPr>
            </a:pPr>
            <a:r>
              <a:rPr sz="1575" b="0" i="0">
                <a:solidFill>
                  <a:srgbClr val="D5E1DB"/>
                </a:solidFill>
              </a:rPr>
              <a:t>I designed and built the SaaS product end to end with Next.js, PostgreSQL, and AWS EC2.</a:t>
            </a: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1b393009841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3915" y="2923190"/>
            <a:ext cx="10232085" cy="4987464"/>
          </a:xfrm>
          <a:prstGeom xmlns:a="http://schemas.openxmlformats.org/drawingml/2006/main" prst="roundRect">
            <a:avLst>
              <a:gd name="adj" fmla="val 2491"/>
            </a:avLst>
          </a:prstGeom>
        </p:spPr>
      </p:pic>
    </p:spTree>
    <p:extLst>
      <p:ext uri="{BB962C8B-B14F-4D97-AF65-F5344CB8AC3E}">
        <p14:creationId xmlns:p14="http://schemas.microsoft.com/office/powerpoint/2010/main" val="5872595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62c959cc7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249284" y="3393183"/>
            <a:ext cx="8028431" cy="4255558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APPROACH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Code-first kept the build focused.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2083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moved from design intent to working components with Radix UI and shadcn/ui, using AI-assisted development to accelerate implementation.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83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I owned the design end to end including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1295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12954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Product decisions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16954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16954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Information architecture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2095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20955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Interaction model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2495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24955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Quality bar</a:t>
            </a:r>
          </a:p>
        </p:txBody>
      </p:sp>
      <p:pic>
        <p:nvPicPr>
          <p:cNvPr id="3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ef99124f44f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33601" y="3543300"/>
            <a:ext cx="7772400" cy="3798812"/>
          </a:xfrm>
          <a:prstGeom xmlns:a="http://schemas.openxmlformats.org/drawingml/2006/main" prst="rect">
            <a:avLst/>
          </a:prstGeom>
        </p:spPr>
      </p:pic>
      <p:pic>
        <p:nvPicPr>
          <p:cNvPr id="3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62c959cc7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8459" y="3393183"/>
            <a:ext cx="8028431" cy="4255558"/>
          </a:xfrm>
          <a:prstGeom xmlns:a="http://schemas.openxmlformats.org/drawingml/2006/main" prst="rect">
            <a:avLst/>
          </a:prstGeom>
        </p:spPr>
      </p:pic>
      <p:pic>
        <p:nvPicPr>
          <p:cNvPr id="35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e4b52fb19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543300"/>
            <a:ext cx="7772400" cy="3773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ED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3474140894b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188" y="2388807"/>
            <a:ext cx="10707624" cy="5095355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A710494-21B4-4CEE-A099-A12EAEED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SHIPPED PRODUCT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0366B7-8214-4FB1-952B-F0AD0248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0" i="0">
                <a:solidFill>
                  <a:srgbClr val="151716"/>
                </a:solidFill>
              </a:defRPr>
            </a:pPr>
            <a:r>
              <a:rPr sz="3675" b="0" i="0">
                <a:solidFill>
                  <a:srgbClr val="151716"/>
                </a:solidFill>
              </a:rPr>
              <a:t>All 5 personas have</a:t>
            </a:r>
            <a:r>
              <a:rPr sz="3675" b="0" i="0">
                <a:solidFill>
                  <a:srgbClr val="151716"/>
                </a:solidFill>
              </a:rPr>
              <a:t> actionable dashboards.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6BC43B-8D12-49BB-909F-149CDC4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discovered the problems that surfaced throughout the capstone process, and after rigorous prioritization with team, I built dashboards to unblock each user persona.</a:t>
            </a:r>
          </a:p>
        </p:txBody>
      </p:sp>
      <p:pic>
        <p:nvPicPr>
          <p:cNvPr id="1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66a0a0afc48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3262" y="2596199"/>
            <a:ext cx="10379027" cy="5052224"/>
          </a:xfrm>
          <a:prstGeom xmlns:a="http://schemas.openxmlformats.org/drawingml/2006/main" prst="roundRect">
            <a:avLst>
              <a:gd name="adj" fmla="val 1403"/>
            </a:avLst>
          </a:prstGeom>
        </p:spPr>
      </p:pic>
    </p:spTree>
    <p:extLst>
      <p:ext uri="{BB962C8B-B14F-4D97-AF65-F5344CB8AC3E}">
        <p14:creationId xmlns:p14="http://schemas.microsoft.com/office/powerpoint/2010/main" val="6825369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8BD71C-4BFC-4515-8E98-29AEF936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DESIGN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E5B953-2A66-4A10-B9A3-290702C8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F7F8F7"/>
                </a:solidFill>
              </a:defRPr>
            </a:pPr>
            <a:r>
              <a:rPr sz="3600" b="0" i="0">
                <a:solidFill>
                  <a:srgbClr val="F7F8F7"/>
                </a:solidFill>
              </a:rPr>
              <a:t>Educative’s first design system unified B2C and B2B products.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9FE7F6-BD9F-4E4F-ADD7-86999262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D7E0DB"/>
                </a:solidFill>
              </a:defRPr>
            </a:pPr>
            <a:r>
              <a:rPr sz="1575" b="0" i="0">
                <a:solidFill>
                  <a:srgbClr val="D7E0DB"/>
                </a:solidFill>
              </a:rPr>
              <a:t>I led the design and implementation from foundations through reusable patterns.</a:t>
            </a:r>
          </a:p>
        </p:txBody>
      </p:sp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ba9ac276e4d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744950" y="2726843"/>
            <a:ext cx="15681899" cy="77281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256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3959EF-87FB-4809-8234-2A26F2D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FOUNDATIONS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CEB3D6-A2CD-4161-BB01-44E71189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The system documented the decisions every product shared.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2DC33E0-3510-4F30-8F88-0CFF6EE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E1FA2E-4071-41E1-ADEE-8F092066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Type hierarchy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1917C2A-9B73-4470-9769-1A0514DA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54189A9-016E-48A5-A976-3C90AEB1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Color and contrast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E677CA-711C-4E9A-95AF-E9D9F09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C4FF1A-5709-439C-9D56-AFE5C21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Accessibility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00F952-8A00-409F-8A61-078ED01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2AE5694-CB30-4E2D-B318-A05A3C34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Elevation and shadows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ce819fbad4731"/>
          <a:srcRect xmlns:a="http://schemas.openxmlformats.org/drawingml/2006/main" l="0" t="0" r="585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6143" y="2357968"/>
            <a:ext cx="8226359" cy="40428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480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ED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fb797b4e942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085" y="1998752"/>
            <a:ext cx="10707624" cy="5095355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3CCEAFB-380F-4012-885C-DD206D18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Side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207A1-73B6-4F60-AA1E-AA40C637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74382" cy="699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0" i="0">
                <a:solidFill>
                  <a:srgbClr val="151716"/>
                </a:solidFill>
              </a:defRPr>
            </a:pPr>
            <a:r>
              <a:rPr sz="3525" b="0" i="0">
                <a:solidFill>
                  <a:srgbClr val="151716"/>
                </a:solidFill>
              </a:rPr>
              <a:t>A </a:t>
            </a:r>
            <a:r>
              <a:rPr sz="3525" b="0" i="0">
                <a:solidFill>
                  <a:srgbClr val="151716"/>
                </a:solidFill>
              </a:rPr>
              <a:t>Three.js</a:t>
            </a:r>
            <a:r>
              <a:rPr sz="3525" b="0" i="0">
                <a:solidFill>
                  <a:srgbClr val="151716"/>
                </a:solidFill>
              </a:rPr>
              <a:t> and GLSL based gradient generator</a:t>
            </a:r>
          </a:p>
        </p:txBody>
      </p:sp>
      <p:pic>
        <p:nvPicPr>
          <p:cNvPr id="11" name="Screen Recording 2026-07-29 at 12.58.51 PM (1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18a21725a4d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277" y="2120165"/>
            <a:ext cx="10490365" cy="5095355"/>
          </a:xfrm>
          <a:prstGeom xmlns:a="http://schemas.openxmlformats.org/drawingml/2006/main" prst="roundRect">
            <a:avLst>
              <a:gd name="adj" fmla="val 3394"/>
            </a:avLst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767423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2400F14-6E55-4CC2-B725-D83C26E1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MUSTAFA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E01A92-9662-40AA-A5F3-B6A4B208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81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0" i="0">
                <a:solidFill>
                  <a:srgbClr val="F7F8F7"/>
                </a:solidFill>
              </a:defRPr>
            </a:pPr>
            <a:r>
              <a:rPr sz="5850" b="0" i="0">
                <a:solidFill>
                  <a:srgbClr val="F7F8F7"/>
                </a:solidFill>
              </a:rPr>
              <a:t>Questions?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E9EEE5-C8C0-48D4-AA63-625F114F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D7E0DB"/>
                </a:solidFill>
              </a:defRPr>
            </a:pPr>
            <a:r>
              <a:rPr sz="1875" b="0" i="0">
                <a:solidFill>
                  <a:srgbClr val="D7E0DB"/>
                </a:solidFill>
              </a:rPr>
              <a:t>Product design, systems, and code.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6651E6-9BFF-4A74-8CE1-8790C89E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83E"/>
          </a:solidFill>
          <a:ln xmlns:a="http://schemas.openxmlformats.org/drawingml/2006/main" w="0">
            <a:solidFill>
              <a:srgbClr val="2848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E08514-4451-40F9-B3FF-BEDFE1E3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Email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941BC79-2259-4276-AF91-84DEB92A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hello@mstf.work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39EEBAE-BA2C-4032-B2B3-3634172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Phone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A6BAC6-D50E-4400-8749-FEBBEAB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+1 737 389 0364</a:t>
            </a:r>
          </a:p>
        </p:txBody>
      </p:sp>
    </p:spTree>
    <p:extLst>
      <p:ext uri="{BB962C8B-B14F-4D97-AF65-F5344CB8AC3E}">
        <p14:creationId xmlns:p14="http://schemas.microsoft.com/office/powerpoint/2010/main" val="2018907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2026-08-05T22:01:31.1920000Z</dcterms:created>
  <dcterms:modified xsi:type="dcterms:W3CDTF">2026-08-05T22:01:31.1920000Z</dcterms:modified>
</coreProperties>
</file>