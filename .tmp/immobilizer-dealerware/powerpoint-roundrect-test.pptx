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11"/>
    <p:restoredTop sz="94640"/>
  </p:normalViewPr>
  <p:slideViewPr>
    <p:cSldViewPr snapToGrid="0">
      <p:cViewPr varScale="1">
        <p:scale>
          <a:sx n="120" d="100"/>
          <a:sy n="120" d="100"/>
        </p:scale>
        <p:origin x="1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throughline: product design depth plus the ability to ship in code.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1: https://pitch.com/v/slide-deck-jq3j7w</a:t>
            </a:r>
          </a:p>
          <a:p>
            <a:r>
              <a:t>- User-provided Pitch deck, slide 19: https://pitch.com/v/slide-deck-jq3j7w</a:t>
            </a:r>
          </a:p>
          <a:p>
            <a:r>
              <a:t>- User-provided Pitch deck, slide 24: https://pitch.com/v/slide-deck-jq3j7w</a:t>
            </a:r>
          </a:p>
          <a:p>
            <a:r>
              <a:t>
- User-provided Engine Immobilizer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expectations without slide numbers or false section parity.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2: https://pitch.com/v/slide-deck-jq3j7w</a:t>
            </a:r>
          </a:p>
          <a:p>
            <a:r>
              <a:t>
- User-provided Engine Immobilizer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business constraint: Mexico expansion was blocked by one missing fleet-safety capability.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demo: /Users/mustafa/paper/case-media/engine/hero.mp4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product had to launch across legacy and future admin states, Fleet View, and Motive’s first third-party hardware.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images: /Users/mustafa/paper/case-media/engine/admin1.0.png; /Users/mustafa/paper/case-media/engine/Admin2.0.png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ownership decision and the reliability constraints learned from fleet managers.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image: /Users/mustafa/paper/case-media/engine/customer-call.png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solution as a safety model, not a single button: permission, preconditions, confirmation, status, auditability, and fallback.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image: /Users/mustafa/paper/case-media/engine/iteration-final.png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case study on business and customer impact before transitioning to Workflows.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company scale before the product.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research insight as a diagnosis, not a list of bullets.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6: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order of operations clearly.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5: https://pitch.com/v/slide-deck-jq3j7w</a:t>
            </a:r>
          </a:p>
          <a:p>
            <a:r>
              <a:t>- User-provided Pitch deck, slide 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feature set to the working model uncovered in research.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 the apparent conflict between one week and eight months.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8: https://pitch.com/v/slide-deck-jq3j7w</a:t>
            </a:r>
          </a:p>
          <a:p>
            <a:r>
              <a:t>- User-provided Pitch deck, slide 10: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precise about what the source deck claims: a six-figure deal and the biggest customer yet.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product and constraint, not the stack or AI credits.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1: https://pitch.com/v/slide-deck-jq3j7w</a:t>
            </a:r>
          </a:p>
          <a:p>
            <a:r>
              <a:t>- User-provided Pitch deck, slide 19: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code-first as a product decision, not a shortcut.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20: https://pitch.com/v/slide-deck-jq3j7w</a:t>
            </a:r>
          </a:p>
          <a:p>
            <a:r>
              <a:t>- User-provided Pitch deck, slide 21: https://pitch.com/v/slide-deck-jq3j7w</a:t>
            </a:r>
          </a:p>
          <a:p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outcome of the code-first build.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23: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system’s scope without the redundant phrase 'first design system redesigned.'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what the foundation artifact contains before moving to motion.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25: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motion back to the design system rather than presenting it as a separate gallery.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26: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positioning from slide one.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ustafa-title">
            <a:extLst>
              <a:ext uri="{FF2B5EF4-FFF2-40B4-BE49-F238E27FC236}">
                <a16:creationId xmlns:a16="http://schemas.microsoft.com/office/drawing/2014/main" id="{DD52F977-3231-4397-8706-B701AB5A545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400" b="0" i="0">
                <a:solidFill>
                  <a:srgbClr val="151716"/>
                </a:solidFill>
              </a:defRPr>
            </a:pPr>
            <a:r>
              <a:rPr sz="5400" b="0" i="0">
                <a:solidFill>
                  <a:srgbClr val="151716"/>
                </a:solidFill>
              </a:rPr>
              <a:t>Mustafa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CAF542-5EC5-4001-A372-FEFE6705561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 i="0">
                <a:solidFill>
                  <a:srgbClr val="151716"/>
                </a:solidFill>
              </a:defRPr>
            </a:pPr>
            <a:r>
              <a:rPr sz="2100" b="1" i="0">
                <a:solidFill>
                  <a:srgbClr val="151716"/>
                </a:solidFill>
              </a:rPr>
              <a:t>Product designer who codes.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67441-6AD0-43A5-A733-F214FAAB6BDE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I design systems, products, and interfaces, then stay close enough to the code to help ship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A6D22-D64A-4379-9899-B4048FF921F6}"/>
              </a:ext>
            </a:extLst>
          </p:cNvPr>
          <p:cNvSpPr>
            <a:spLocks noGrp="1"/>
          </p:cNvSpPr>
          <p:nvPr/>
        </p:nvSpPr>
        <p:spPr>
          <a:xfrm>
            <a:off x="6191250" y="590550"/>
            <a:ext cx="9525" cy="2190750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5644E-F319-4C82-89BC-1E8AC23B955F}"/>
              </a:ext>
            </a:extLst>
          </p:cNvPr>
          <p:cNvSpPr>
            <a:spLocks noGrp="1"/>
          </p:cNvSpPr>
          <p:nvPr/>
        </p:nvSpPr>
        <p:spPr>
          <a:xfrm>
            <a:off x="6572250" y="6858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81240-104F-44F9-AE8B-A8D51AD39D09}"/>
              </a:ext>
            </a:extLst>
          </p:cNvPr>
          <p:cNvSpPr>
            <a:spLocks noGrp="1"/>
          </p:cNvSpPr>
          <p:nvPr/>
        </p:nvSpPr>
        <p:spPr>
          <a:xfrm>
            <a:off x="6838950" y="6858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Added $8M ARR with Motive’s Engine Immobilizer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C67AF-0F40-4F49-9754-08B49400A2A4}"/>
              </a:ext>
            </a:extLst>
          </p:cNvPr>
          <p:cNvSpPr>
            <a:spLocks noGrp="1"/>
          </p:cNvSpPr>
          <p:nvPr/>
        </p:nvSpPr>
        <p:spPr>
          <a:xfrm>
            <a:off x="6572250" y="127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22563-F9D1-4CB2-87C6-BEB9E048959A}"/>
              </a:ext>
            </a:extLst>
          </p:cNvPr>
          <p:cNvSpPr>
            <a:spLocks noGrp="1"/>
          </p:cNvSpPr>
          <p:nvPr/>
        </p:nvSpPr>
        <p:spPr>
          <a:xfrm>
            <a:off x="6838950" y="12763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Shipped a FERPA-compliant recruitment platform in under two 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D5685-260C-4729-AAA5-ED43A314B6AD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684BD-DC6C-49E5-AAE2-6797ADDF0835}"/>
              </a:ext>
            </a:extLst>
          </p:cNvPr>
          <p:cNvSpPr>
            <a:spLocks noGrp="1"/>
          </p:cNvSpPr>
          <p:nvPr/>
        </p:nvSpPr>
        <p:spPr>
          <a:xfrm>
            <a:off x="6838950" y="18669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Led Educative’s first design system across B2C and B2B</a:t>
            </a:r>
          </a:p>
        </p:txBody>
      </p:sp>
    </p:spTree>
    <p:extLst>
      <p:ext uri="{BB962C8B-B14F-4D97-AF65-F5344CB8AC3E}">
        <p14:creationId xmlns:p14="http://schemas.microsoft.com/office/powerpoint/2010/main" val="80266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0FDADAA-A3B2-48D6-96FD-5A1A7927D4C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SELECTED WORK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DE42366-E804-43C0-8F0D-9847F5DE483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096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151716"/>
                </a:solidFill>
              </a:defRPr>
            </a:pPr>
            <a:r>
              <a:rPr sz="3750" b="0" i="0">
                <a:solidFill>
                  <a:srgbClr val="151716"/>
                </a:solidFill>
              </a:rPr>
              <a:t>Three projects, one throughline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E32CA5-8974-4C76-9C75-BC0CD6EEDEE4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9525"/>
          </a:xfrm>
          <a:prstGeom prst="rect">
            <a:avLst/>
          </a:prstGeom>
          <a:solidFill>
            <a:srgbClr val="151716"/>
          </a:solidFill>
          <a:ln w="0">
            <a:solidFill>
              <a:srgbClr val="1517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621B3-F16B-45AE-A770-4EF12527598E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79D733-C759-4BB2-B39D-E582DDCDDF1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Engine Immobilizer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2BE26-34B5-4504-9FAF-C1107895483D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Automotive hardware and fleet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03713-D932-4C3B-9D4D-A9CEDD964279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9525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3CE85E-802B-4C3E-8A97-B28A638D04E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C8ED2-4F00-4A3E-8EAB-E95B2F5157B2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Workflows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5D4B-5FF3-4F38-878E-949025A0D583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Product strategy and interaction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C996A1-B1CF-42F3-8362-321A83830BDA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9525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FB1CC1-C564-4B88-ADE7-88AB39DB7ADD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94B1A9-E25E-4FEF-BD91-77B17BA8701B}"/>
              </a:ext>
            </a:extLst>
          </p:cNvPr>
          <p:cNvSpPr>
            <a:spLocks noGrp="1"/>
          </p:cNvSpPr>
          <p:nvPr/>
        </p:nvSpPr>
        <p:spPr>
          <a:xfrm>
            <a:off x="1714500" y="48006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Capstone Matchmaker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D7511-9787-461C-AB9C-8AFBA61159A4}"/>
              </a:ext>
            </a:extLst>
          </p:cNvPr>
          <p:cNvSpPr>
            <a:spLocks noGrp="1"/>
          </p:cNvSpPr>
          <p:nvPr/>
        </p:nvSpPr>
        <p:spPr>
          <a:xfrm>
            <a:off x="6381750" y="4876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Design and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73991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ENGINE IMMOBILIZER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Remote immobilization was the only core capability missing for Mexico.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Sales Engineers said 90% of prospects asked for it. Motive had already lost a significant prospect, and the Q1 launch was at risk.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  <p:pic>
        <p:nvPicPr>
          <p:cNvPr id="4" name="Immobilizer Hero Video">
            <a:hlinkClick r:id="" action="ppaction://media"/>
            <a:extLst>
              <a:ext uri="{FF2B5EF4-FFF2-40B4-BE49-F238E27FC236}">
                <a16:creationId xmlns:a16="http://schemas.microsoft.com/office/drawing/2014/main" id="{F69EC212-47C8-BD77-ABDE-7AC5C64D0B28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3186"/>
            <a:ext cx="5779103" cy="34648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SYSTEM COMPLEXITY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One command. Three systems.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noGrp="1"/>
          </p:cNvSpPr>
          <p:nvPr/>
        </p:nvSpPr>
        <p:spPr>
          <a:xfrm>
            <a:off x="685800" y="2212083"/>
            <a:ext cx="4953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Admin was moving from 1.0 to 2.0, Fleet View was changing, and Motive was sourcing its first third-party hardware. I designed for launch without creating throwaway 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noGrp="1"/>
          </p:cNvSpPr>
          <p:nvPr/>
        </p:nvSpPr>
        <p:spPr>
          <a:xfrm>
            <a:off x="7808703" y="83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The design had to account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noGrp="1"/>
          </p:cNvSpPr>
          <p:nvPr/>
        </p:nvSpPr>
        <p:spPr>
          <a:xfrm>
            <a:off x="7808703" y="1295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noGrp="1"/>
          </p:cNvSpPr>
          <p:nvPr/>
        </p:nvSpPr>
        <p:spPr>
          <a:xfrm>
            <a:off x="8075403" y="12954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Legacy and future admin states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noGrp="1"/>
          </p:cNvSpPr>
          <p:nvPr/>
        </p:nvSpPr>
        <p:spPr>
          <a:xfrm>
            <a:off x="7808703" y="16954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noGrp="1"/>
          </p:cNvSpPr>
          <p:nvPr/>
        </p:nvSpPr>
        <p:spPr>
          <a:xfrm>
            <a:off x="8075403" y="16954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Third-party device pairing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noGrp="1"/>
          </p:cNvSpPr>
          <p:nvPr/>
        </p:nvSpPr>
        <p:spPr>
          <a:xfrm>
            <a:off x="7808703" y="20955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noGrp="1"/>
          </p:cNvSpPr>
          <p:nvPr/>
        </p:nvSpPr>
        <p:spPr>
          <a:xfrm>
            <a:off x="8075403" y="2095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Dead zones and command retries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noGrp="1"/>
          </p:cNvSpPr>
          <p:nvPr/>
        </p:nvSpPr>
        <p:spPr>
          <a:xfrm>
            <a:off x="7808703" y="2495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noGrp="1"/>
          </p:cNvSpPr>
          <p:nvPr/>
        </p:nvSpPr>
        <p:spPr>
          <a:xfrm>
            <a:off x="8075403" y="24955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Tamper and jammer alerts</a:t>
            </a:r>
          </a:p>
        </p:txBody>
      </p:sp>
      <p:pic>
        <p:nvPicPr>
          <p:cNvPr id="33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459" y="3393186"/>
            <a:ext cx="6233541" cy="3464814"/>
          </a:xfrm>
          <a:prstGeom prst="rect">
            <a:avLst/>
          </a:prstGeom>
        </p:spPr>
      </p:pic>
      <p:pic>
        <p:nvPicPr>
          <p:cNvPr id="35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CUSTOMER 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Fleet managers—not drivers—owned the action.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They used it after theft attempts or drunk driving. Dead zones and cut wiring made fallback states essential.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SAFETY MODEL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A dangerous action had to be deliberate and recoverable.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Fleet manager-only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The vehicle had to be stopped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Confirmation, command status, and audit trail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Tamper, jammer, and dead-zone fallbacks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05500" y="2076450"/>
            <a:ext cx="561975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637314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Added $8M
to ARR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B9CBB8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Engine Immobilizer gave Sales the last core capability needed for Mexico.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It also supported lower insurance premiums and reduced cargo-theft risk.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 t="13786" b="13786"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7BED41-AC7D-4A89-9C0C-7893645BBC5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9DC503A-910F-4B7F-A3FB-5AAF0BA56B9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286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I spoke with 18 engineering managers and 13 engineers.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D3707-2224-42F0-B6E5-C2CB1BA80F7D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151716"/>
                </a:solidFill>
              </a:defRPr>
            </a:pPr>
            <a:r>
              <a:rPr sz="1500" b="1" i="0">
                <a:solidFill>
                  <a:srgbClr val="151716"/>
                </a:solidFill>
              </a:rPr>
              <a:t>Goal: Understand the problem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13294-7675-4DCB-BA69-38308C85506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5095875" cy="3333750"/>
          </a:xfrm>
          <a:prstGeom prst="rect">
            <a:avLst/>
          </a:prstGeom>
          <a:solidFill>
            <a:srgbClr val="F7EDEF"/>
          </a:solidFill>
          <a:ln w="0">
            <a:solidFill>
              <a:srgbClr val="F7E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B35E8-142F-40FB-94AB-6ABE41B40B1C}"/>
              </a:ext>
            </a:extLst>
          </p:cNvPr>
          <p:cNvSpPr>
            <a:spLocks noGrp="1"/>
          </p:cNvSpPr>
          <p:nvPr/>
        </p:nvSpPr>
        <p:spPr>
          <a:xfrm>
            <a:off x="6410325" y="2857500"/>
            <a:ext cx="5095875" cy="3333750"/>
          </a:xfrm>
          <a:prstGeom prst="rect">
            <a:avLst/>
          </a:prstGeom>
          <a:solidFill>
            <a:srgbClr val="EFF1EF"/>
          </a:solidFill>
          <a:ln w="0">
            <a:solidFill>
              <a:srgbClr val="EFF1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ADD2C-D966-4381-A6C1-CBAC1160FDCC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Assumptions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AA5B7-85ED-4199-8B4C-0114AC47295B}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tooling was broken.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C131B-10D2-4A0F-A9FC-91D78D6F9F49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9E278-F035-4C25-B214-38BFAC97DA15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Standardize 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DCFF7-9968-4D4E-881C-3D57223633CE}"/>
              </a:ext>
            </a:extLst>
          </p:cNvPr>
          <p:cNvSpPr>
            <a:spLocks noGrp="1"/>
          </p:cNvSpPr>
          <p:nvPr/>
        </p:nvSpPr>
        <p:spPr>
          <a:xfrm>
            <a:off x="990600" y="508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E70553-B214-4469-8FE9-0CA3BF74C8CA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Fix the journey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0ECB0-43B4-4B6A-BB94-2FB1B529B841}"/>
              </a:ext>
            </a:extLst>
          </p:cNvPr>
          <p:cNvSpPr>
            <a:spLocks noGrp="1"/>
          </p:cNvSpPr>
          <p:nvPr/>
        </p:nvSpPr>
        <p:spPr>
          <a:xfrm>
            <a:off x="990600" y="5467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A7A168-9CF4-432E-8C09-1F5E276BC9EF}"/>
              </a:ext>
            </a:extLst>
          </p:cNvPr>
          <p:cNvSpPr>
            <a:spLocks noGrp="1"/>
          </p:cNvSpPr>
          <p:nvPr/>
        </p:nvSpPr>
        <p:spPr>
          <a:xfrm>
            <a:off x="1257300" y="5467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Add more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9D0A36-3E40-4D12-B438-63FDE7B49E57}"/>
              </a:ext>
            </a:extLst>
          </p:cNvPr>
          <p:cNvSpPr>
            <a:spLocks noGrp="1"/>
          </p:cNvSpPr>
          <p:nvPr/>
        </p:nvSpPr>
        <p:spPr>
          <a:xfrm>
            <a:off x="6715125" y="3143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2A8CFE-6B0E-44DB-8812-AD485B37A319}"/>
              </a:ext>
            </a:extLst>
          </p:cNvPr>
          <p:cNvSpPr>
            <a:spLocks noGrp="1"/>
          </p:cNvSpPr>
          <p:nvPr/>
        </p:nvSpPr>
        <p:spPr>
          <a:xfrm>
            <a:off x="6715125" y="3600450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workflow </a:t>
            </a:r>
            <a:r>
              <a:rPr sz="2850">
                <a:solidFill>
                  <a:srgbClr val="151716"/>
                </a:solidFill>
              </a:rPr>
              <a:t>was not optimized for 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68920A-D64D-44B1-BB97-A4BC2E4D4743}"/>
              </a:ext>
            </a:extLst>
          </p:cNvPr>
          <p:cNvSpPr>
            <a:spLocks noGrp="1"/>
          </p:cNvSpPr>
          <p:nvPr/>
        </p:nvSpPr>
        <p:spPr>
          <a:xfrm>
            <a:off x="6715125" y="4705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33D9CD-8024-493E-A462-C04F5EA51974}"/>
              </a:ext>
            </a:extLst>
          </p:cNvPr>
          <p:cNvSpPr>
            <a:spLocks noGrp="1"/>
          </p:cNvSpPr>
          <p:nvPr/>
        </p:nvSpPr>
        <p:spPr>
          <a:xfrm>
            <a:off x="6981825" y="4705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Content was searchable but scattered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FD6C4A-5B4A-47E0-9657-FFDB8171C119}"/>
              </a:ext>
            </a:extLst>
          </p:cNvPr>
          <p:cNvSpPr>
            <a:spLocks noGrp="1"/>
          </p:cNvSpPr>
          <p:nvPr/>
        </p:nvSpPr>
        <p:spPr>
          <a:xfrm>
            <a:off x="6715125" y="508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A45CC9-BF04-4EB3-A81C-FCEC4AEAEEA2}"/>
              </a:ext>
            </a:extLst>
          </p:cNvPr>
          <p:cNvSpPr>
            <a:spLocks noGrp="1"/>
          </p:cNvSpPr>
          <p:nvPr/>
        </p:nvSpPr>
        <p:spPr>
          <a:xfrm>
            <a:off x="6981825" y="5086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Lack of updates</a:t>
            </a:r>
            <a:r>
              <a:rPr sz="1350">
                <a:solidFill>
                  <a:srgbClr val="151716"/>
                </a:solidFill>
              </a:rPr>
              <a:t>, lots of things remained stale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D315F-2556-40F5-8318-29D497FCC6C5}"/>
              </a:ext>
            </a:extLst>
          </p:cNvPr>
          <p:cNvSpPr>
            <a:spLocks noGrp="1"/>
          </p:cNvSpPr>
          <p:nvPr/>
        </p:nvSpPr>
        <p:spPr>
          <a:xfrm>
            <a:off x="6715125" y="5467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B1B97B-C013-4AD0-9327-D8FD31B02224}"/>
              </a:ext>
            </a:extLst>
          </p:cNvPr>
          <p:cNvSpPr>
            <a:spLocks noGrp="1"/>
          </p:cNvSpPr>
          <p:nvPr/>
        </p:nvSpPr>
        <p:spPr>
          <a:xfrm>
            <a:off x="6981825" y="5467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Existing tools worked for separate teams, but not when collaborating</a:t>
            </a:r>
          </a:p>
        </p:txBody>
      </p:sp>
    </p:spTree>
    <p:extLst>
      <p:ext uri="{BB962C8B-B14F-4D97-AF65-F5344CB8AC3E}">
        <p14:creationId xmlns:p14="http://schemas.microsoft.com/office/powerpoint/2010/main" val="1188820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5B785D-8C64-4C92-BEDF-53D9E7E3C4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PROBLEM FRAMING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0D6C15A-7DB9-4D61-80B5-00AF6F4414A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57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0" i="0">
                <a:solidFill>
                  <a:srgbClr val="151716"/>
                </a:solidFill>
              </a:defRPr>
            </a:pPr>
            <a:r>
              <a:rPr sz="4050" b="0" i="0">
                <a:solidFill>
                  <a:srgbClr val="151716"/>
                </a:solidFill>
              </a:rPr>
              <a:t>I classified the problem into two parts: foundation and visibility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62DF7-76FA-4830-AB88-46BE8462FCDB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9525" cy="3048000"/>
          </a:xfrm>
          <a:prstGeom prst="rect">
            <a:avLst/>
          </a:prstGeom>
          <a:solidFill>
            <a:srgbClr val="CFBEC2"/>
          </a:solidFill>
          <a:ln w="0">
            <a:solidFill>
              <a:srgbClr val="CFBE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875FE-08B8-43B2-A9D5-2A4FAED434C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First-order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FB3D1-120B-443A-857C-D1B4EDC6594E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organize the work?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85AA9-A3F0-4CFE-808A-52B14D442175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Second-order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07CD2-E541-41E1-B6EF-0FE6ACBA7760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make progress visible?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F4CD9-147F-4B6C-A990-56A80B9D3EF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To make the progress visible, we needed to have a solid foundation to start first. Existing tools were opinionated. We wanted something that worke</a:t>
            </a:r>
            <a:r>
              <a:rPr sz="1500">
                <a:solidFill>
                  <a:srgbClr val="151716"/>
                </a:solidFill>
              </a:rPr>
              <a:t>d for all of our teams.</a:t>
            </a:r>
          </a:p>
        </p:txBody>
      </p:sp>
    </p:spTree>
    <p:extLst>
      <p:ext uri="{BB962C8B-B14F-4D97-AF65-F5344CB8AC3E}">
        <p14:creationId xmlns:p14="http://schemas.microsoft.com/office/powerpoint/2010/main" val="191260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rcRect l="20934" r="20934"/>
          <a:stretch>
            <a:fillRect/>
          </a:stretch>
        </p:blipFill>
        <p:spPr>
          <a:xfrm>
            <a:off x="5905500" y="2076450"/>
            <a:ext cx="561975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ED6CB2-9707-4A97-B338-65DEB2FB240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TIMELINE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9541FCB-03BD-4158-9AEE-FFDD45E3347C}"/>
              </a:ext>
            </a:extLst>
          </p:cNvPr>
          <p:cNvSpPr>
            <a:spLocks noGrp="1"/>
          </p:cNvSpPr>
          <p:nvPr/>
        </p:nvSpPr>
        <p:spPr>
          <a:xfrm>
            <a:off x="685799" y="838200"/>
            <a:ext cx="1032172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825" b="0" i="0">
                <a:solidFill>
                  <a:srgbClr val="151716"/>
                </a:solidFill>
              </a:defRPr>
            </a:pPr>
            <a:r>
              <a:rPr sz="3825" b="0" i="0">
                <a:solidFill>
                  <a:srgbClr val="151716"/>
                </a:solidFill>
              </a:rPr>
              <a:t>I shipped a barebones MVP in one week and spent 8 months turning it into a 0 to 100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44C466-A510-4FB6-8C49-6536F83B79E5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9144000" cy="38100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35495E-001C-481A-8296-A17E279C49FE}"/>
              </a:ext>
            </a:extLst>
          </p:cNvPr>
          <p:cNvSpPr>
            <a:spLocks noGrp="1"/>
          </p:cNvSpPr>
          <p:nvPr/>
        </p:nvSpPr>
        <p:spPr>
          <a:xfrm>
            <a:off x="1695450" y="4000500"/>
            <a:ext cx="228600" cy="228600"/>
          </a:xfrm>
          <a:prstGeom prst="ellipse">
            <a:avLst/>
          </a:prstGeom>
          <a:solidFill>
            <a:srgbClr val="F1DFE4"/>
          </a:solidFill>
          <a:ln w="0">
            <a:solidFill>
              <a:srgbClr val="F1DF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D27BD-E9FA-4C61-B97D-58805500B7C2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Week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2F1DAF-A106-4198-BD98-BD6EA08367CA}"/>
              </a:ext>
            </a:extLst>
          </p:cNvPr>
          <p:cNvSpPr>
            <a:spLocks noGrp="1"/>
          </p:cNvSpPr>
          <p:nvPr/>
        </p:nvSpPr>
        <p:spPr>
          <a:xfrm>
            <a:off x="57150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MVP shipped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F31C7-8B8A-4DA1-9363-AD0D0FF35FB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296504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>
                <a:solidFill>
                  <a:srgbClr val="6F716E"/>
                </a:solidFill>
              </a:rPr>
              <a:t>Shipped fast, broke things, learned a lot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B8F222-4925-4C6B-BF83-47283EB5428C}"/>
              </a:ext>
            </a:extLst>
          </p:cNvPr>
          <p:cNvSpPr>
            <a:spLocks noGrp="1"/>
          </p:cNvSpPr>
          <p:nvPr/>
        </p:nvSpPr>
        <p:spPr>
          <a:xfrm>
            <a:off x="5981700" y="4000500"/>
            <a:ext cx="228600" cy="228600"/>
          </a:xfrm>
          <a:prstGeom prst="ellipse">
            <a:avLst/>
          </a:prstGeom>
          <a:solidFill>
            <a:srgbClr val="F1DFE4"/>
          </a:solidFill>
          <a:ln w="0">
            <a:solidFill>
              <a:srgbClr val="F1DF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6F2F8-8F6C-4A34-9BD9-8FD3665BCF9A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Months 2–4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9D840-E1E0-47E9-9FB6-B0D5AF344C62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Learned and rebuilt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D82BF1-2043-4D6D-AF7D-56CFFA0A4C75}"/>
              </a:ext>
            </a:extLst>
          </p:cNvPr>
          <p:cNvSpPr>
            <a:spLocks noGrp="1"/>
          </p:cNvSpPr>
          <p:nvPr/>
        </p:nvSpPr>
        <p:spPr>
          <a:xfrm>
            <a:off x="4714875" y="525780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Feedback tools like Userback, and analytics informed a few decisions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1D6E5E-33AA-42B6-9FDC-0DA536612FAE}"/>
              </a:ext>
            </a:extLst>
          </p:cNvPr>
          <p:cNvSpPr>
            <a:spLocks noGrp="1"/>
          </p:cNvSpPr>
          <p:nvPr/>
        </p:nvSpPr>
        <p:spPr>
          <a:xfrm>
            <a:off x="10267950" y="4000500"/>
            <a:ext cx="228600" cy="228600"/>
          </a:xfrm>
          <a:prstGeom prst="ellipse">
            <a:avLst/>
          </a:prstGeom>
          <a:solidFill>
            <a:srgbClr val="061D16"/>
          </a:solidFill>
          <a:ln w="0">
            <a:solidFill>
              <a:srgbClr val="061D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C162F-1D8F-440B-A406-52C502EDB08B}"/>
              </a:ext>
            </a:extLst>
          </p:cNvPr>
          <p:cNvSpPr>
            <a:spLocks noGrp="1"/>
          </p:cNvSpPr>
          <p:nvPr/>
        </p:nvSpPr>
        <p:spPr>
          <a:xfrm>
            <a:off x="933450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 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EA142F-C30D-45C9-A4B4-E260259B4E08}"/>
              </a:ext>
            </a:extLst>
          </p:cNvPr>
          <p:cNvSpPr>
            <a:spLocks noGrp="1"/>
          </p:cNvSpPr>
          <p:nvPr/>
        </p:nvSpPr>
        <p:spPr>
          <a:xfrm>
            <a:off x="914400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Platform shipped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705D4A-BD96-4BEE-A752-15A6FE6245B8}"/>
              </a:ext>
            </a:extLst>
          </p:cNvPr>
          <p:cNvSpPr>
            <a:spLocks noGrp="1"/>
          </p:cNvSpPr>
          <p:nvPr/>
        </p:nvSpPr>
        <p:spPr>
          <a:xfrm>
            <a:off x="9001125" y="525780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Planning, review, and docs connected</a:t>
            </a:r>
          </a:p>
        </p:txBody>
      </p:sp>
    </p:spTree>
    <p:extLst>
      <p:ext uri="{BB962C8B-B14F-4D97-AF65-F5344CB8AC3E}">
        <p14:creationId xmlns:p14="http://schemas.microsoft.com/office/powerpoint/2010/main" val="82778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0CB588FA-4B72-4FCC-A317-3D61D6ECF83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01D95293-9F4A-403A-BB2C-27F3A2376CC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Task hub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96A3FAC7-CF71-4FDF-A570-790F2703A4D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A02BCF8B-37EE-446C-96A7-AD96CDD6445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Review hub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5273DF83-4309-4AAC-AF96-1D35F5F91DC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837216BE-DB25-47EB-8DD5-CB2D574234E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Projects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847AC51F-1E0A-487E-9C62-73F924CE10B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E7737103-6083-4BA8-8564-2A52D7EB108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Document editor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637314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 deal closed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B9CBB8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08" y="2705100"/>
            <a:ext cx="10707624" cy="4152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9D6E8B-F117-4C5E-AF3E-BC114BC066C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D6B09C"/>
                </a:solidFill>
              </a:defRPr>
            </a:pPr>
            <a:r>
              <a:rPr sz="1050" b="1" i="0">
                <a:solidFill>
                  <a:srgbClr val="D6B09C"/>
                </a:solidFill>
              </a:rPr>
              <a:t>CAPSTONE MATCHMAKER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BE5DFB5-10BB-4470-975A-FA73F8FA6FD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75" b="0" i="0">
                <a:solidFill>
                  <a:srgbClr val="F7F8F7"/>
                </a:solidFill>
              </a:defRPr>
            </a:pPr>
            <a:r>
              <a:rPr sz="3675" b="0" i="0">
                <a:solidFill>
                  <a:srgbClr val="F7F8F7"/>
                </a:solidFill>
              </a:rPr>
              <a:t>A FERPA-compliant recruitment platform, shipped in under two weeks.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5632D-9224-4B21-8CA2-293C7BDC020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828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D5E1DB"/>
                </a:solidFill>
              </a:defRPr>
            </a:pPr>
            <a:r>
              <a:rPr sz="1575" b="0" i="0">
                <a:solidFill>
                  <a:srgbClr val="D5E1DB"/>
                </a:solidFill>
              </a:rPr>
              <a:t>I designed and built the SaaS product end to end with Next.js, PostgreSQL, and AWS EC2.</a:t>
            </a: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28" y="2923223"/>
            <a:ext cx="10232041" cy="3934778"/>
          </a:xfrm>
          <a:prstGeom prst="roundRect">
            <a:avLst>
              <a:gd name="adj" fmla="val 2491"/>
            </a:avLst>
          </a:prstGeom>
        </p:spPr>
      </p:pic>
    </p:spTree>
    <p:extLst>
      <p:ext uri="{BB962C8B-B14F-4D97-AF65-F5344CB8AC3E}">
        <p14:creationId xmlns:p14="http://schemas.microsoft.com/office/powerpoint/2010/main" val="58725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3186"/>
            <a:ext cx="5779103" cy="34648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noGrp="1"/>
          </p:cNvSpPr>
          <p:nvPr/>
        </p:nvSpPr>
        <p:spPr>
          <a:xfrm>
            <a:off x="685800" y="2212083"/>
            <a:ext cx="4953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noGrp="1"/>
          </p:cNvSpPr>
          <p:nvPr/>
        </p:nvSpPr>
        <p:spPr>
          <a:xfrm>
            <a:off x="7808703" y="83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noGrp="1"/>
          </p:cNvSpPr>
          <p:nvPr/>
        </p:nvSpPr>
        <p:spPr>
          <a:xfrm>
            <a:off x="7808703" y="1295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noGrp="1"/>
          </p:cNvSpPr>
          <p:nvPr/>
        </p:nvSpPr>
        <p:spPr>
          <a:xfrm>
            <a:off x="8075403" y="12954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noGrp="1"/>
          </p:cNvSpPr>
          <p:nvPr/>
        </p:nvSpPr>
        <p:spPr>
          <a:xfrm>
            <a:off x="7808703" y="16954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noGrp="1"/>
          </p:cNvSpPr>
          <p:nvPr/>
        </p:nvSpPr>
        <p:spPr>
          <a:xfrm>
            <a:off x="8075403" y="16954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noGrp="1"/>
          </p:cNvSpPr>
          <p:nvPr/>
        </p:nvSpPr>
        <p:spPr>
          <a:xfrm>
            <a:off x="7808703" y="20955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noGrp="1"/>
          </p:cNvSpPr>
          <p:nvPr/>
        </p:nvSpPr>
        <p:spPr>
          <a:xfrm>
            <a:off x="8075403" y="2095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noGrp="1"/>
          </p:cNvSpPr>
          <p:nvPr/>
        </p:nvSpPr>
        <p:spPr>
          <a:xfrm>
            <a:off x="7808703" y="2495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noGrp="1"/>
          </p:cNvSpPr>
          <p:nvPr/>
        </p:nvSpPr>
        <p:spPr>
          <a:xfrm>
            <a:off x="8075403" y="24955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59" y="3393186"/>
            <a:ext cx="6233541" cy="3464814"/>
          </a:xfrm>
          <a:prstGeom prst="rect">
            <a:avLst/>
          </a:prstGeom>
        </p:spPr>
      </p:pic>
      <p:pic>
        <p:nvPicPr>
          <p:cNvPr id="35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8" y="2388775"/>
            <a:ext cx="10707624" cy="44692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710494-21B4-4CEE-A099-A12EAEED9A8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SHIPPED PRODUCT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80366B7-8214-4FB1-952B-F0AD0248831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33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75" b="0" i="0">
                <a:solidFill>
                  <a:srgbClr val="151716"/>
                </a:solidFill>
              </a:defRPr>
            </a:pPr>
            <a:r>
              <a:rPr sz="3675" b="0" i="0">
                <a:solidFill>
                  <a:srgbClr val="151716"/>
                </a:solidFill>
              </a:rPr>
              <a:t>All 5 personas have actionable dashboards.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BC43B-8D12-49BB-909F-149CDC413D2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discovered the problems that surfaced throughout the capstone process, and after rigorous prioritization with team, I built dashboards to unblock each user persona.</a:t>
            </a: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" y="2596229"/>
            <a:ext cx="10379012" cy="4261771"/>
          </a:xfrm>
          <a:prstGeom prst="roundRect">
            <a:avLst>
              <a:gd name="adj" fmla="val 1403"/>
            </a:avLst>
          </a:prstGeom>
        </p:spPr>
      </p:pic>
    </p:spTree>
    <p:extLst>
      <p:ext uri="{BB962C8B-B14F-4D97-AF65-F5344CB8AC3E}">
        <p14:creationId xmlns:p14="http://schemas.microsoft.com/office/powerpoint/2010/main" val="682536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BD71C-4BFC-4515-8E98-29AEF936C06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DESIGN SYSTEM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8E5B953-2A66-4A10-B9A3-290702C86D1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F7F8F7"/>
                </a:solidFill>
              </a:defRPr>
            </a:pPr>
            <a:r>
              <a:rPr sz="3600" b="0" i="0">
                <a:solidFill>
                  <a:srgbClr val="F7F8F7"/>
                </a:solidFill>
              </a:rPr>
              <a:t>Educative’s first design system unified B2C and B2B products.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FE7F6-BD9F-4E4F-ADD7-86999262C44A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D7E0DB"/>
                </a:solidFill>
              </a:defRPr>
            </a:pPr>
            <a:r>
              <a:rPr sz="1575" b="0" i="0">
                <a:solidFill>
                  <a:srgbClr val="D7E0DB"/>
                </a:solidFill>
              </a:rPr>
              <a:t>I led the design and implementation from foundations through reusable patterns.</a:t>
            </a: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6817"/>
            <a:ext cx="12192000" cy="41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3959EF-87FB-4809-8234-2A26F2D7C0B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FOUNDATIONS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ECEB3D6-A2CD-4161-BB01-44E71189958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239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The system documented the decisions every product shared.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DC33E0-3510-4F30-8F88-0CFF6EE11556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1FA2E-4071-41E1-ADEE-8F092066FA14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Type hierarchy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17C2A-9B73-4470-9769-1A0514DAE8C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189A9-016E-48A5-A976-3C90AEB1DDD3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Color and contrast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677CA-711C-4E9A-95AF-E9D9F09A1CF3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4FF1A-5709-439C-9D56-AFE5C212C1AE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Accessibility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0F952-8A00-409F-8A61-078ED01E8992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AE5694-CB30-4E2D-B318-A05A3C34CA3A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Elevation and shadows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3"/>
          <a:srcRect r="58518"/>
          <a:stretch>
            <a:fillRect/>
          </a:stretch>
        </p:blipFill>
        <p:spPr>
          <a:xfrm>
            <a:off x="3516143" y="2357968"/>
            <a:ext cx="8226359" cy="40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4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" y="1998726"/>
            <a:ext cx="10707624" cy="48592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CCEAFB-380F-4012-885C-DD206D1882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Side Project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DE207A1-73B6-4F60-AA1E-AA40C637C75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774382" cy="699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 b="0" i="0">
                <a:solidFill>
                  <a:srgbClr val="151716"/>
                </a:solidFill>
              </a:defRPr>
            </a:pPr>
            <a:r>
              <a:rPr sz="3525" b="0" i="0">
                <a:solidFill>
                  <a:srgbClr val="151716"/>
                </a:solidFill>
              </a:rPr>
              <a:t>A Three.js and GLSL based gradient generator</a:t>
            </a:r>
          </a:p>
        </p:txBody>
      </p:sp>
      <p:pic>
        <p:nvPicPr>
          <p:cNvPr id="11" name="Screen Recording 2026-07-29 at 12.58.51 PM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8" y="2120170"/>
            <a:ext cx="10490359" cy="4737830"/>
          </a:xfrm>
          <a:prstGeom prst="roundRect">
            <a:avLst>
              <a:gd name="adj" fmla="val 3394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742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400F14-6E55-4CC2-B725-D83C26E1212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MUSTAFA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E01A92-9662-40AA-A5F3-B6A4B208652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850" b="0" i="0">
                <a:solidFill>
                  <a:srgbClr val="F7F8F7"/>
                </a:solidFill>
              </a:defRPr>
            </a:pPr>
            <a:r>
              <a:rPr sz="5850" b="0" i="0">
                <a:solidFill>
                  <a:srgbClr val="F7F8F7"/>
                </a:solidFill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9EEE5-C8C0-48D4-AA63-625F114F6764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28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 i="0">
                <a:solidFill>
                  <a:srgbClr val="D7E0DB"/>
                </a:solidFill>
              </a:defRPr>
            </a:pPr>
            <a:r>
              <a:rPr sz="1875" b="0" i="0">
                <a:solidFill>
                  <a:srgbClr val="D7E0DB"/>
                </a:solidFill>
              </a:rPr>
              <a:t>Product design, systems, and code.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651E6-9BFF-4A74-8CE1-8790C89E4CFF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08514-4451-40F9-B3FF-BEDFE1E3BFB7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Email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1BC79-2259-4276-AF91-84DEB92AC9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hello@mstf.work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EEBAE-BA2C-4032-B2B3-36341726A50E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Phone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6BAC6-D50E-4400-8749-FEBBEAB2FF4E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+1 737 389 0364</a:t>
            </a:r>
          </a:p>
        </p:txBody>
      </p:sp>
    </p:spTree>
    <p:extLst>
      <p:ext uri="{BB962C8B-B14F-4D97-AF65-F5344CB8AC3E}">
        <p14:creationId xmlns:p14="http://schemas.microsoft.com/office/powerpoint/2010/main" val="20189078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2041</Words>
  <Application>Microsoft Macintosh PowerPoint</Application>
  <DocSecurity>0</DocSecurity>
  <PresentationFormat>Widescreen</PresentationFormat>
  <Paragraphs>270</Paragraphs>
  <Slides>24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 Akbar, Mustafa</cp:lastModifiedBy>
  <cp:revision>2</cp:revision>
  <dcterms:created xsi:type="dcterms:W3CDTF">2026-08-05T22:05:49Z</dcterms:created>
  <dcterms:modified xsi:type="dcterms:W3CDTF">2026-08-06T13:34:11Z</dcterms:modified>
</cp:coreProperties>
</file>