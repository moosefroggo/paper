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12f05d9f394422" /><Relationship Type="http://schemas.openxmlformats.org/officeDocument/2006/relationships/extended-properties" Target="/docProps/app.xml" Id="R9094ea3ca3cd414c" /><Relationship Type="http://schemas.openxmlformats.org/officeDocument/2006/relationships/officeDocument" Target="/ppt/presentation.xml" Id="Rab7836c97d154c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75d193fae34994"/>
  </p:sldMasterIdLst>
  <p:notesMasterIdLst>
    <p:notesMasterId xmlns:r="http://schemas.openxmlformats.org/officeDocument/2006/relationships" r:id="R025345a434754a94"/>
  </p:notesMasterIdLst>
  <p:sldIdLst>
    <p:sldId xmlns:r="http://schemas.openxmlformats.org/officeDocument/2006/relationships" id="256" r:id="Rf4bb24a6e09344f5"/>
    <p:sldId xmlns:r="http://schemas.openxmlformats.org/officeDocument/2006/relationships" id="257" r:id="R0501066863604391"/>
    <p:sldId xmlns:r="http://schemas.openxmlformats.org/officeDocument/2006/relationships" id="258" r:id="Re4cca0d24be9443e"/>
    <p:sldId xmlns:r="http://schemas.openxmlformats.org/officeDocument/2006/relationships" id="259" r:id="Rb7f13e3e4ad2440a"/>
    <p:sldId xmlns:r="http://schemas.openxmlformats.org/officeDocument/2006/relationships" id="260" r:id="R7cbdaf97187f46ea"/>
    <p:sldId xmlns:r="http://schemas.openxmlformats.org/officeDocument/2006/relationships" id="261" r:id="R4730ddf58b58427c"/>
    <p:sldId xmlns:r="http://schemas.openxmlformats.org/officeDocument/2006/relationships" id="262" r:id="R03e49c2df23e46da"/>
    <p:sldId xmlns:r="http://schemas.openxmlformats.org/officeDocument/2006/relationships" id="263" r:id="R178895563ce540e0"/>
    <p:sldId xmlns:r="http://schemas.openxmlformats.org/officeDocument/2006/relationships" id="264" r:id="R63a26c5e4e924cad"/>
    <p:sldId xmlns:r="http://schemas.openxmlformats.org/officeDocument/2006/relationships" id="265" r:id="R5a12416c1d794099"/>
    <p:sldId xmlns:r="http://schemas.openxmlformats.org/officeDocument/2006/relationships" id="266" r:id="R4420a172c85d40d3"/>
    <p:sldId xmlns:r="http://schemas.openxmlformats.org/officeDocument/2006/relationships" id="267" r:id="R5504935242ed443a"/>
    <p:sldId xmlns:r="http://schemas.openxmlformats.org/officeDocument/2006/relationships" id="268" r:id="Rd2dcab3539254521"/>
    <p:sldId xmlns:r="http://schemas.openxmlformats.org/officeDocument/2006/relationships" id="269" r:id="R41f149dd2c3e441c"/>
    <p:sldId xmlns:r="http://schemas.openxmlformats.org/officeDocument/2006/relationships" id="270" r:id="Ra1a6ab4af5974d0a"/>
    <p:sldId xmlns:r="http://schemas.openxmlformats.org/officeDocument/2006/relationships" id="271" r:id="Rc4bab3a21dee4efd"/>
    <p:sldId xmlns:r="http://schemas.openxmlformats.org/officeDocument/2006/relationships" id="272" r:id="Rf85dd1bebfdc4816"/>
    <p:sldId xmlns:r="http://schemas.openxmlformats.org/officeDocument/2006/relationships" id="273" r:id="R0f6da7cd6ba64ec9"/>
    <p:sldId xmlns:r="http://schemas.openxmlformats.org/officeDocument/2006/relationships" id="274" r:id="Rbdf06c8aef834ab5"/>
    <p:sldId xmlns:r="http://schemas.openxmlformats.org/officeDocument/2006/relationships" id="275" r:id="R2ce946d724eb4106"/>
    <p:sldId xmlns:r="http://schemas.openxmlformats.org/officeDocument/2006/relationships" id="276" r:id="R9fed10cb47e64385"/>
    <p:sldId xmlns:r="http://schemas.openxmlformats.org/officeDocument/2006/relationships" id="277" r:id="Re48faeb404334fab"/>
    <p:sldId xmlns:r="http://schemas.openxmlformats.org/officeDocument/2006/relationships" id="278" r:id="R5d5ac3a28d754ded"/>
    <p:sldId xmlns:r="http://schemas.openxmlformats.org/officeDocument/2006/relationships" id="279" r:id="Rfcaef1d8c9884a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b6b7a05d7d4d84" /><Relationship Type="http://schemas.openxmlformats.org/officeDocument/2006/relationships/slideMaster" Target="/ppt/slideMasters/slideMaster1.xml" Id="R4475d193fae34994" /><Relationship Type="http://schemas.openxmlformats.org/officeDocument/2006/relationships/notesMaster" Target="/ppt/notesMasters/notesMaster1.xml" Id="R025345a434754a94" /><Relationship Type="http://schemas.openxmlformats.org/officeDocument/2006/relationships/presProps" Target="/ppt/presProps.xml" Id="Re43d78825d6f428c" /><Relationship Type="http://schemas.openxmlformats.org/officeDocument/2006/relationships/viewProps" Target="/ppt/viewProps.xml" Id="Ref0fb27462af4a11" /><Relationship Type="http://schemas.openxmlformats.org/officeDocument/2006/relationships/tableStyles" Target="/ppt/tableStyles.xml" Id="Rfb787750b43c4b26" /><Relationship Type="http://schemas.openxmlformats.org/officeDocument/2006/relationships/slide" Target="/ppt/slides/slide1.xml" Id="Rf4bb24a6e09344f5" /><Relationship Type="http://schemas.openxmlformats.org/officeDocument/2006/relationships/slide" Target="/ppt/slides/slide2.xml" Id="R0501066863604391" /><Relationship Type="http://schemas.openxmlformats.org/officeDocument/2006/relationships/slide" Target="/ppt/slides/slide3.xml" Id="Re4cca0d24be9443e" /><Relationship Type="http://schemas.openxmlformats.org/officeDocument/2006/relationships/slide" Target="/ppt/slides/slide4.xml" Id="Rb7f13e3e4ad2440a" /><Relationship Type="http://schemas.openxmlformats.org/officeDocument/2006/relationships/slide" Target="/ppt/slides/slide5.xml" Id="R7cbdaf97187f46ea" /><Relationship Type="http://schemas.openxmlformats.org/officeDocument/2006/relationships/slide" Target="/ppt/slides/slide6.xml" Id="R4730ddf58b58427c" /><Relationship Type="http://schemas.openxmlformats.org/officeDocument/2006/relationships/slide" Target="/ppt/slides/slide7.xml" Id="R03e49c2df23e46da" /><Relationship Type="http://schemas.openxmlformats.org/officeDocument/2006/relationships/slide" Target="/ppt/slides/slide8.xml" Id="R178895563ce540e0" /><Relationship Type="http://schemas.openxmlformats.org/officeDocument/2006/relationships/slide" Target="/ppt/slides/slide9.xml" Id="R63a26c5e4e924cad" /><Relationship Type="http://schemas.openxmlformats.org/officeDocument/2006/relationships/slide" Target="/ppt/slides/slide10.xml" Id="R5a12416c1d794099" /><Relationship Type="http://schemas.openxmlformats.org/officeDocument/2006/relationships/slide" Target="/ppt/slides/slide11.xml" Id="R4420a172c85d40d3" /><Relationship Type="http://schemas.openxmlformats.org/officeDocument/2006/relationships/slide" Target="/ppt/slides/slide12.xml" Id="R5504935242ed443a" /><Relationship Type="http://schemas.openxmlformats.org/officeDocument/2006/relationships/slide" Target="/ppt/slides/slide13.xml" Id="Rd2dcab3539254521" /><Relationship Type="http://schemas.openxmlformats.org/officeDocument/2006/relationships/slide" Target="/ppt/slides/slide14.xml" Id="R41f149dd2c3e441c" /><Relationship Type="http://schemas.openxmlformats.org/officeDocument/2006/relationships/slide" Target="/ppt/slides/slide15.xml" Id="Ra1a6ab4af5974d0a" /><Relationship Type="http://schemas.openxmlformats.org/officeDocument/2006/relationships/slide" Target="/ppt/slides/slide16.xml" Id="Rc4bab3a21dee4efd" /><Relationship Type="http://schemas.openxmlformats.org/officeDocument/2006/relationships/slide" Target="/ppt/slides/slide17.xml" Id="Rf85dd1bebfdc4816" /><Relationship Type="http://schemas.openxmlformats.org/officeDocument/2006/relationships/slide" Target="/ppt/slides/slide18.xml" Id="R0f6da7cd6ba64ec9" /><Relationship Type="http://schemas.openxmlformats.org/officeDocument/2006/relationships/slide" Target="/ppt/slides/slide19.xml" Id="Rbdf06c8aef834ab5" /><Relationship Type="http://schemas.openxmlformats.org/officeDocument/2006/relationships/slide" Target="/ppt/slides/slide20.xml" Id="R2ce946d724eb4106" /><Relationship Type="http://schemas.openxmlformats.org/officeDocument/2006/relationships/slide" Target="/ppt/slides/slide21.xml" Id="R9fed10cb47e64385" /><Relationship Type="http://schemas.openxmlformats.org/officeDocument/2006/relationships/slide" Target="/ppt/slides/slide22.xml" Id="Re48faeb404334fab" /><Relationship Type="http://schemas.openxmlformats.org/officeDocument/2006/relationships/slide" Target="/ppt/slides/slide23.xml" Id="R5d5ac3a28d754ded" /><Relationship Type="http://schemas.openxmlformats.org/officeDocument/2006/relationships/slide" Target="/ppt/slides/slide24.xml" Id="Rfcaef1d8c9884a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6ad446fce541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e35d148660465a" /><Relationship Type="http://schemas.openxmlformats.org/officeDocument/2006/relationships/notesMaster" Target="/ppt/notesMasters/notesMaster1.xml" Id="R420a9f29bf4446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c6cb7732d14aa4" /><Relationship Type="http://schemas.openxmlformats.org/officeDocument/2006/relationships/notesMaster" Target="/ppt/notesMasters/notesMaster1.xml" Id="Rcfe0e0a391d243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98c503aff94a3a" /><Relationship Type="http://schemas.openxmlformats.org/officeDocument/2006/relationships/notesMaster" Target="/ppt/notesMasters/notesMaster1.xml" Id="R82a9ce6146da4e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cb88e1bb064e30" /><Relationship Type="http://schemas.openxmlformats.org/officeDocument/2006/relationships/notesMaster" Target="/ppt/notesMasters/notesMaster1.xml" Id="Rb80f1a41ab9f43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d86b966bd4480f" /><Relationship Type="http://schemas.openxmlformats.org/officeDocument/2006/relationships/notesMaster" Target="/ppt/notesMasters/notesMaster1.xml" Id="Ra77b55de34a842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551b34b12441bd" /><Relationship Type="http://schemas.openxmlformats.org/officeDocument/2006/relationships/notesMaster" Target="/ppt/notesMasters/notesMaster1.xml" Id="R8fd774b49c384c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9e565b463544b7" /><Relationship Type="http://schemas.openxmlformats.org/officeDocument/2006/relationships/notesMaster" Target="/ppt/notesMasters/notesMaster1.xml" Id="R0177cce82ddd47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db26f56d984ddc" /><Relationship Type="http://schemas.openxmlformats.org/officeDocument/2006/relationships/notesMaster" Target="/ppt/notesMasters/notesMaster1.xml" Id="Raf08b1b6885c4e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f4e14eb3f8469b" /><Relationship Type="http://schemas.openxmlformats.org/officeDocument/2006/relationships/notesMaster" Target="/ppt/notesMasters/notesMaster1.xml" Id="Rc943330fe21e45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2b4b7051da4c57" /><Relationship Type="http://schemas.openxmlformats.org/officeDocument/2006/relationships/notesMaster" Target="/ppt/notesMasters/notesMaster1.xml" Id="R73950976744d4f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798f7bf57e4fee" /><Relationship Type="http://schemas.openxmlformats.org/officeDocument/2006/relationships/notesMaster" Target="/ppt/notesMasters/notesMaster1.xml" Id="Re34fc7b4df6e48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f4f8a0f0874f49" /><Relationship Type="http://schemas.openxmlformats.org/officeDocument/2006/relationships/notesMaster" Target="/ppt/notesMasters/notesMaster1.xml" Id="R05374b0c105749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c54b070fbb4cb5" /><Relationship Type="http://schemas.openxmlformats.org/officeDocument/2006/relationships/notesMaster" Target="/ppt/notesMasters/notesMaster1.xml" Id="R0bb75834c6fa47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83b9a81f2744d7" /><Relationship Type="http://schemas.openxmlformats.org/officeDocument/2006/relationships/notesMaster" Target="/ppt/notesMasters/notesMaster1.xml" Id="Rd48aa27bda814d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a5d788537745e2" /><Relationship Type="http://schemas.openxmlformats.org/officeDocument/2006/relationships/notesMaster" Target="/ppt/notesMasters/notesMaster1.xml" Id="R2da6e2f9a47b4b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971075f43d4a59" /><Relationship Type="http://schemas.openxmlformats.org/officeDocument/2006/relationships/notesMaster" Target="/ppt/notesMasters/notesMaster1.xml" Id="R26289399e4a54f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8bb404082449ca" /><Relationship Type="http://schemas.openxmlformats.org/officeDocument/2006/relationships/notesMaster" Target="/ppt/notesMasters/notesMaster1.xml" Id="R4accdf7974fe4c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c3e3f60d534834" /><Relationship Type="http://schemas.openxmlformats.org/officeDocument/2006/relationships/notesMaster" Target="/ppt/notesMasters/notesMaster1.xml" Id="Rf1dcd0e79ed94e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38033837a1d4bba" /><Relationship Type="http://schemas.openxmlformats.org/officeDocument/2006/relationships/notesMaster" Target="/ppt/notesMasters/notesMaster1.xml" Id="R5e0d9f3dc2f547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df1e5135b64abb" /><Relationship Type="http://schemas.openxmlformats.org/officeDocument/2006/relationships/notesMaster" Target="/ppt/notesMasters/notesMaster1.xml" Id="R09f92ab3c0a947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b7038e3569d4a43" /><Relationship Type="http://schemas.openxmlformats.org/officeDocument/2006/relationships/notesMaster" Target="/ppt/notesMasters/notesMaster1.xml" Id="Rd527addd5106413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eef87188ce4ceb" /><Relationship Type="http://schemas.openxmlformats.org/officeDocument/2006/relationships/notesMaster" Target="/ppt/notesMasters/notesMaster1.xml" Id="R2d1cfa1e67a743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97739d0cda0493e" /><Relationship Type="http://schemas.openxmlformats.org/officeDocument/2006/relationships/notesMaster" Target="/ppt/notesMasters/notesMaster1.xml" Id="R9a1d38d8a4c14cb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c7e602e998747cb" /><Relationship Type="http://schemas.openxmlformats.org/officeDocument/2006/relationships/notesMaster" Target="/ppt/notesMasters/notesMaster1.xml" Id="R5fa018f9d4cd44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throughline: product design depth plus the ability to ship in code.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1: https://pitch.com/v/slide-deck-jq3j7w</a:t>
            </a:r>
          </a:p>
          <a:p xmlns:a="http://schemas.openxmlformats.org/drawingml/2006/main">
            <a:r>
              <a:t>- User-provided Pitch deck, slide 19: https://pitch.com/v/slide-deck-jq3j7w</a:t>
            </a:r>
          </a:p>
          <a:p xmlns:a="http://schemas.openxmlformats.org/drawingml/2006/main">
            <a:r>
              <a:t>- User-provided Pitch deck, slide 24: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 without slide numbers or false section parity.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company scale before the product.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3: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code-first as a product decision, not a shortcut.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20: https://pitch.com/v/slide-deck-jq3j7w</a:t>
            </a:r>
          </a:p>
          <a:p xmlns:a="http://schemas.openxmlformats.org/drawingml/2006/main">
            <a:r>
              <a:t>- User-provided Pitch deck, slide 21: https://pitch.com/v/slide-deck-jq3j7w</a:t>
            </a:r>
          </a:p>
          <a:p xmlns:a="http://schemas.openxmlformats.org/drawingml/2006/main">
            <a:r>
              <a:t>- User-provided Pitch deck, slide 22: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company scale before the product.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3: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feature set to the working model uncovered in research.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8: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 about what the source deck claims: a six-figure deal and the biggest customer yet.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18: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company scale before the product.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3: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research insight as a diagnosis, not a list of bullets.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6: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order of operations clearly.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5: https://pitch.com/v/slide-deck-jq3j7w</a:t>
            </a:r>
          </a:p>
          <a:p xmlns:a="http://schemas.openxmlformats.org/drawingml/2006/main">
            <a:r>
              <a:t>- User-provided Pitch deck, slide 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feature set to the working model uncovered in research.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8: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apparent conflict between one week and eight months.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8: https://pitch.com/v/slide-deck-jq3j7w</a:t>
            </a:r>
          </a:p>
          <a:p xmlns:a="http://schemas.openxmlformats.org/drawingml/2006/main">
            <a:r>
              <a:t>- User-provided Pitch deck, slide 10: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product synthesis slide, not four separate reveals.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14: https://pitch.com/v/slide-deck-jq3j7w</a:t>
            </a:r>
          </a:p>
          <a:p xmlns:a="http://schemas.openxmlformats.org/drawingml/2006/main">
            <a:r>
              <a:t>- User-provided Pitch deck, slide 15: https://pitch.com/v/slide-deck-jq3j7w</a:t>
            </a:r>
          </a:p>
          <a:p xmlns:a="http://schemas.openxmlformats.org/drawingml/2006/main">
            <a:r>
              <a:t>- User-provided Pitch deck, slide 16: https://pitch.com/v/slide-deck-jq3j7w</a:t>
            </a:r>
          </a:p>
          <a:p xmlns:a="http://schemas.openxmlformats.org/drawingml/2006/main"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product synthesis slide, not four separate reveals.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14: https://pitch.com/v/slide-deck-jq3j7w</a:t>
            </a:r>
          </a:p>
          <a:p xmlns:a="http://schemas.openxmlformats.org/drawingml/2006/main">
            <a:r>
              <a:t>- User-provided Pitch deck, slide 15: https://pitch.com/v/slide-deck-jq3j7w</a:t>
            </a:r>
          </a:p>
          <a:p xmlns:a="http://schemas.openxmlformats.org/drawingml/2006/main">
            <a:r>
              <a:t>- User-provided Pitch deck, slide 16: https://pitch.com/v/slide-deck-jq3j7w</a:t>
            </a:r>
          </a:p>
          <a:p xmlns:a="http://schemas.openxmlformats.org/drawingml/2006/main"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product synthesis slide, not four separate reveals.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14: https://pitch.com/v/slide-deck-jq3j7w</a:t>
            </a:r>
          </a:p>
          <a:p xmlns:a="http://schemas.openxmlformats.org/drawingml/2006/main">
            <a:r>
              <a:t>- User-provided Pitch deck, slide 15: https://pitch.com/v/slide-deck-jq3j7w</a:t>
            </a:r>
          </a:p>
          <a:p xmlns:a="http://schemas.openxmlformats.org/drawingml/2006/main">
            <a:r>
              <a:t>- User-provided Pitch deck, slide 16: https://pitch.com/v/slide-deck-jq3j7w</a:t>
            </a:r>
          </a:p>
          <a:p xmlns:a="http://schemas.openxmlformats.org/drawingml/2006/main"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product synthesis slide, not four separate reveals.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14: https://pitch.com/v/slide-deck-jq3j7w</a:t>
            </a:r>
          </a:p>
          <a:p xmlns:a="http://schemas.openxmlformats.org/drawingml/2006/main">
            <a:r>
              <a:t>- User-provided Pitch deck, slide 15: https://pitch.com/v/slide-deck-jq3j7w</a:t>
            </a:r>
          </a:p>
          <a:p xmlns:a="http://schemas.openxmlformats.org/drawingml/2006/main">
            <a:r>
              <a:t>- User-provided Pitch deck, slide 16: https://pitch.com/v/slide-deck-jq3j7w</a:t>
            </a:r>
          </a:p>
          <a:p xmlns:a="http://schemas.openxmlformats.org/drawingml/2006/main">
            <a:r>
              <a:t>- User-provided Pitch deck, slide 17: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 about what the source deck claims: a six-figure deal and the biggest customer yet.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18: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product and constraint, not the stack or AI credits.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1: https://pitch.com/v/slide-deck-jq3j7w</a:t>
            </a:r>
          </a:p>
          <a:p xmlns:a="http://schemas.openxmlformats.org/drawingml/2006/main">
            <a:r>
              <a:t>- User-provided Pitch deck, slide 19: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code-first as a product decision, not a shortcut.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20: https://pitch.com/v/slide-deck-jq3j7w</a:t>
            </a:r>
          </a:p>
          <a:p xmlns:a="http://schemas.openxmlformats.org/drawingml/2006/main">
            <a:r>
              <a:t>- User-provided Pitch deck, slide 21: https://pitch.com/v/slide-deck-jq3j7w</a:t>
            </a:r>
          </a:p>
          <a:p xmlns:a="http://schemas.openxmlformats.org/drawingml/2006/main">
            <a:r>
              <a:t>- User-provided Pitch deck, slide 22: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outcome of the code-first build.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23: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system’s scope without the redundant phrase 'first design system redesigned.'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24: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what the foundation artifact contains before moving to motion.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25: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motion back to the design system rather than presenting it as a separate gallery.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26: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positioning from slide one.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deck, slide 27: https://pitch.com/v/slide-deck-jq3j7w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13a2031b64c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fe1516a5aa42bc" /><Relationship Type="http://schemas.openxmlformats.org/officeDocument/2006/relationships/slideLayout" Target="/ppt/slideLayouts/slideLayout1.xml" Id="R28297fb9103f45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297fb9103f45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3d8ecd20e41a0" /><Relationship Type="http://schemas.openxmlformats.org/officeDocument/2006/relationships/notesSlide" Target="/ppt/notesSlides/notesSlide1.xml" Id="R60f86607f2e34c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474fe22084ff8" /><Relationship Type="http://schemas.openxmlformats.org/officeDocument/2006/relationships/notesSlide" Target="/ppt/notesSlides/notesSlide2.xml" Id="R6ba696c1aecb4a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206cd859a42dd" /><Relationship Type="http://schemas.openxmlformats.org/officeDocument/2006/relationships/image" Target="/ppt/media/image.png" Id="R449821ae9bc34507" /><Relationship Type="http://schemas.openxmlformats.org/officeDocument/2006/relationships/notesSlide" Target="/ppt/notesSlides/notesSlide3.xml" Id="R24374f70b70f49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67d914ed84595" /><Relationship Type="http://schemas.openxmlformats.org/officeDocument/2006/relationships/image" Target="/ppt/media/image2.png" Id="R7e843a9c58ab4201" /><Relationship Type="http://schemas.openxmlformats.org/officeDocument/2006/relationships/image" Target="/ppt/media/image3.png" Id="R50fed9a265554361" /><Relationship Type="http://schemas.openxmlformats.org/officeDocument/2006/relationships/image" Target="/ppt/media/image4.png" Id="R6a20871ec9f24c33" /><Relationship Type="http://schemas.openxmlformats.org/officeDocument/2006/relationships/notesSlide" Target="/ppt/notesSlides/notesSlide4.xml" Id="R9e4a08d7528c42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20ff5bd5a4f42" /><Relationship Type="http://schemas.openxmlformats.org/officeDocument/2006/relationships/image" Target="/ppt/media/image.png" Id="R4ef2074f9d1e4288" /><Relationship Type="http://schemas.openxmlformats.org/officeDocument/2006/relationships/notesSlide" Target="/ppt/notesSlides/notesSlide5.xml" Id="R7f50a83bb8d244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5421b70bf4e57" /><Relationship Type="http://schemas.openxmlformats.org/officeDocument/2006/relationships/image" Target="/ppt/media/image.png" Id="Rccf8eb5a02484d3c" /><Relationship Type="http://schemas.openxmlformats.org/officeDocument/2006/relationships/notesSlide" Target="/ppt/notesSlides/notesSlide6.xml" Id="R2e41d59ec84f4f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0dc32d74244ae" /><Relationship Type="http://schemas.openxmlformats.org/officeDocument/2006/relationships/notesSlide" Target="/ppt/notesSlides/notesSlide7.xml" Id="R4bcf4343673c49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1288cf1a14037" /><Relationship Type="http://schemas.openxmlformats.org/officeDocument/2006/relationships/image" Target="/ppt/media/image.png" Id="Rd735ff39a9534e6d" /><Relationship Type="http://schemas.openxmlformats.org/officeDocument/2006/relationships/notesSlide" Target="/ppt/notesSlides/notesSlide8.xml" Id="R340156c07e9f40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05d6d4b7148d2" /><Relationship Type="http://schemas.openxmlformats.org/officeDocument/2006/relationships/notesSlide" Target="/ppt/notesSlides/notesSlide9.xml" Id="Rac02f6dcd82e43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7cb1ab0df4d58" /><Relationship Type="http://schemas.openxmlformats.org/officeDocument/2006/relationships/notesSlide" Target="/ppt/notesSlides/notesSlide10.xml" Id="Rde6580f054354d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f95ea9b1643ef" /><Relationship Type="http://schemas.openxmlformats.org/officeDocument/2006/relationships/image" Target="/ppt/media/image.png" Id="Rf1e8d6ff8d0f421e" /><Relationship Type="http://schemas.openxmlformats.org/officeDocument/2006/relationships/notesSlide" Target="/ppt/notesSlides/notesSlide11.xml" Id="Rb9f08ee472384a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53d16a7bd48ca" /><Relationship Type="http://schemas.openxmlformats.org/officeDocument/2006/relationships/notesSlide" Target="/ppt/notesSlides/notesSlide12.xml" Id="Rcf4fb1d1a5fc4b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77f06a3ba4478" /><Relationship Type="http://schemas.openxmlformats.org/officeDocument/2006/relationships/image" Target="/ppt/media/image5.png" Id="R5fb89fe510b74119" /><Relationship Type="http://schemas.openxmlformats.org/officeDocument/2006/relationships/notesSlide" Target="/ppt/notesSlides/notesSlide13.xml" Id="R192d94711ee046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8180e7a7543b2" /><Relationship Type="http://schemas.openxmlformats.org/officeDocument/2006/relationships/image" Target="/ppt/media/image6.png" Id="Rc34029bc0d2647e2" /><Relationship Type="http://schemas.openxmlformats.org/officeDocument/2006/relationships/notesSlide" Target="/ppt/notesSlides/notesSlide14.xml" Id="R65e02443d8b241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d2e3ae5624521" /><Relationship Type="http://schemas.openxmlformats.org/officeDocument/2006/relationships/image" Target="/ppt/media/image7.png" Id="R3b03d1b1a0634d82" /><Relationship Type="http://schemas.openxmlformats.org/officeDocument/2006/relationships/notesSlide" Target="/ppt/notesSlides/notesSlide15.xml" Id="R82611b7dbfc04d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5e6d2d87c4d04" /><Relationship Type="http://schemas.openxmlformats.org/officeDocument/2006/relationships/image" Target="/ppt/media/image8.png" Id="Rd43a6504b9044480" /><Relationship Type="http://schemas.openxmlformats.org/officeDocument/2006/relationships/notesSlide" Target="/ppt/notesSlides/notesSlide16.xml" Id="Ra1eb749f13d844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0f7e294ff46ec" /><Relationship Type="http://schemas.openxmlformats.org/officeDocument/2006/relationships/notesSlide" Target="/ppt/notesSlides/notesSlide17.xml" Id="Red35147a937c44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f19430b7a4a71" /><Relationship Type="http://schemas.openxmlformats.org/officeDocument/2006/relationships/image" Target="/ppt/media/image2.png" Id="R29e463e48c6548fd" /><Relationship Type="http://schemas.openxmlformats.org/officeDocument/2006/relationships/image" Target="/ppt/media/image9.png" Id="Rce0daa0b7de74796" /><Relationship Type="http://schemas.openxmlformats.org/officeDocument/2006/relationships/notesSlide" Target="/ppt/notesSlides/notesSlide18.xml" Id="R72ab31ff7d834b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62d79966b41f0" /><Relationship Type="http://schemas.openxmlformats.org/officeDocument/2006/relationships/image" Target="/ppt/media/image2.png" Id="R6a8f2e3d7b11491e" /><Relationship Type="http://schemas.openxmlformats.org/officeDocument/2006/relationships/image" Target="/ppt/media/image3.png" Id="R0e43ee112a72430d" /><Relationship Type="http://schemas.openxmlformats.org/officeDocument/2006/relationships/image" Target="/ppt/media/image4.png" Id="Re0af9ded818e4529" /><Relationship Type="http://schemas.openxmlformats.org/officeDocument/2006/relationships/notesSlide" Target="/ppt/notesSlides/notesSlide19.xml" Id="R4ab8eff7b3ee4c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eecc9a8a341c8" /><Relationship Type="http://schemas.openxmlformats.org/officeDocument/2006/relationships/image" Target="/ppt/media/image2.png" Id="Rdb98f6b0e2064039" /><Relationship Type="http://schemas.openxmlformats.org/officeDocument/2006/relationships/image" Target="/ppt/media/image10.png" Id="Re802e76762f14f28" /><Relationship Type="http://schemas.openxmlformats.org/officeDocument/2006/relationships/notesSlide" Target="/ppt/notesSlides/notesSlide20.xml" Id="R512336d0b10e43b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f02c360a24bb4" /><Relationship Type="http://schemas.openxmlformats.org/officeDocument/2006/relationships/image" Target="/ppt/media/image11.png" Id="R09dc0041a7ca4e2b" /><Relationship Type="http://schemas.openxmlformats.org/officeDocument/2006/relationships/notesSlide" Target="/ppt/notesSlides/notesSlide21.xml" Id="R2579841efcd34f0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7fd11c7c148ae" /><Relationship Type="http://schemas.openxmlformats.org/officeDocument/2006/relationships/image" Target="/ppt/media/image12.png" Id="R7011f2c9b6dd4ef6" /><Relationship Type="http://schemas.openxmlformats.org/officeDocument/2006/relationships/notesSlide" Target="/ppt/notesSlides/notesSlide22.xml" Id="Rb781493cc2904d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1786aee514ebd" /><Relationship Type="http://schemas.openxmlformats.org/officeDocument/2006/relationships/image" Target="/ppt/media/image2.png" Id="R4020b5c0da19433c" /><Relationship Type="http://schemas.openxmlformats.org/officeDocument/2006/relationships/image" Target="/ppt/media/image13.png" Id="R5f22a3d2c0974564" /><Relationship Type="http://schemas.openxmlformats.org/officeDocument/2006/relationships/notesSlide" Target="/ppt/notesSlides/notesSlide23.xml" Id="R88a7f65f49d149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f90bdf94b4622" /><Relationship Type="http://schemas.openxmlformats.org/officeDocument/2006/relationships/notesSlide" Target="/ppt/notesSlides/notesSlide24.xml" Id="R2b95aa404a0c40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ustafa-title">
            <a:extLst xmlns:a="http://schemas.openxmlformats.org/drawingml/2006/main">
              <a:ext uri="{FF2B5EF4-FFF2-40B4-BE49-F238E27FC236}">
                <a16:creationId xmlns:a16="http://schemas.microsoft.com/office/drawing/2014/main" id="{DD52F977-3231-4397-8706-B701AB5A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0" i="0">
                <a:solidFill>
                  <a:srgbClr val="151716"/>
                </a:solidFill>
              </a:defRPr>
            </a:pPr>
            <a:r>
              <a:rPr sz="5400" b="0" i="0">
                <a:solidFill>
                  <a:srgbClr val="151716"/>
                </a:solidFill>
              </a:rPr>
              <a:t>Mustafa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CAF542-5EC5-4001-A372-FEFE6705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51716"/>
                </a:solidFill>
              </a:defRPr>
            </a:pPr>
            <a:r>
              <a:rPr sz="2100" b="1" i="0">
                <a:solidFill>
                  <a:srgbClr val="151716"/>
                </a:solidFill>
              </a:rPr>
              <a:t>Product designer who codes.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5867441-6AD0-43A5-A733-F214FAAB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6F716E"/>
                </a:solidFill>
              </a:defRPr>
            </a:pPr>
            <a:r>
              <a:rPr sz="1650" b="0" i="0">
                <a:solidFill>
                  <a:srgbClr val="6F716E"/>
                </a:solidFill>
              </a:rPr>
              <a:t>I design systems, products, and interfaces, then stay close enough to the code to help ship them.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5A6D22-D64A-4379-9899-B4048FF9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F"/>
          </a:solidFill>
          <a:ln xmlns:a="http://schemas.openxmlformats.org/drawingml/2006/main" w="0">
            <a:solidFill>
              <a:srgbClr val="DD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75644E-F319-4C82-89BC-1E8AC23B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858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FC81240-104F-44F9-AE8B-A8D51AD3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858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Built the core platform for Educative’s B2B offerings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5C67AF-0F40-4F49-9754-08B49400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76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C722563-F9D1-4CB2-87C6-BEB9E048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763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Shipped a FERPA-compliant recruitment platform in under two weeks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0ED5685-260C-4729-AAA5-ED43A314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9CBB8"/>
                </a:solidFill>
              </a:defRPr>
            </a:pPr>
            <a:r>
              <a:rPr sz="1425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0684BD-DC6C-49E5-AAE2-6797ADDF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66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51716"/>
                </a:solidFill>
              </a:defRPr>
            </a:pPr>
            <a:r>
              <a:rPr sz="1425" b="0" i="0">
                <a:solidFill>
                  <a:srgbClr val="151716"/>
                </a:solidFill>
              </a:rPr>
              <a:t>Led </a:t>
            </a:r>
            <a:r>
              <a:rPr sz="1425" b="0" i="0">
                <a:solidFill>
                  <a:srgbClr val="151716"/>
                </a:solidFill>
              </a:rPr>
              <a:t>Educative’s</a:t>
            </a:r>
            <a:r>
              <a:rPr sz="1425" b="0" i="0">
                <a:solidFill>
                  <a:srgbClr val="151716"/>
                </a:solidFill>
              </a:rPr>
              <a:t> first design system across B2C and B2B</a:t>
            </a:r>
          </a:p>
        </p:txBody>
      </p:sp>
    </p:spTree>
    <p:extLst>
      <p:ext uri="{BB962C8B-B14F-4D97-AF65-F5344CB8AC3E}">
        <p14:creationId xmlns:p14="http://schemas.microsoft.com/office/powerpoint/2010/main" val="802661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0FDADAA-A3B2-48D6-96FD-5A1A792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SELECED WORK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42366-E804-43C0-8F0D-9847F5DE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 i="0">
                <a:solidFill>
                  <a:srgbClr val="151716"/>
                </a:solidFill>
              </a:defRPr>
            </a:pPr>
            <a:r>
              <a:rPr sz="3750" b="0" i="0">
                <a:solidFill>
                  <a:srgbClr val="151716"/>
                </a:solidFill>
              </a:rPr>
              <a:t>Three projects, one throughline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2E32CA5-8974-4C76-9C75-BC0CD6EE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6"/>
          </a:solidFill>
          <a:ln xmlns:a="http://schemas.openxmlformats.org/drawingml/2006/main" w="0">
            <a:solidFill>
              <a:srgbClr val="1517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50621B3-F16B-45AE-A770-4EF12527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779D733-C759-4BB2-B39D-E582DDCD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384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Workflows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4A2BE26-34B5-4504-9FAF-C1107895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Product strategy and interaction design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3703713-D932-4C3B-9D4D-A9CEDD96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F"/>
          </a:solidFill>
          <a:ln xmlns:a="http://schemas.openxmlformats.org/drawingml/2006/main" w="0">
            <a:solidFill>
              <a:srgbClr val="DD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F3CE85E-802B-4C3E-8A97-B28A638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02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10C8ED2-4F00-4A3E-8EAB-E95B2F51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Capstone Matchmaker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35A5D4B-5FF3-4F38-878E-949025A0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Design and full-stack development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C996A1-B1CF-42F3-8362-321A8383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F"/>
          </a:solidFill>
          <a:ln xmlns:a="http://schemas.openxmlformats.org/drawingml/2006/main" w="0">
            <a:solidFill>
              <a:srgbClr val="DD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3FB1CC1-C564-4B88-ADE7-88AB39DB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6F716E"/>
                </a:solidFill>
              </a:defRPr>
            </a:pPr>
            <a:r>
              <a:rPr sz="2100" b="0" i="0">
                <a:solidFill>
                  <a:srgbClr val="6F716E"/>
                </a:solidFill>
              </a:rPr>
              <a:t>03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794B1A9-E25E-4FEF-BD91-77B17BA8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0" i="0">
                <a:solidFill>
                  <a:srgbClr val="151716"/>
                </a:solidFill>
              </a:defRPr>
            </a:pPr>
            <a:r>
              <a:rPr sz="2550" b="0" i="0">
                <a:solidFill>
                  <a:srgbClr val="151716"/>
                </a:solidFill>
              </a:rPr>
              <a:t>Design System + Motion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31D7511-9787-461C-AB9C-8AFBA611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F716E"/>
                </a:solidFill>
              </a:defRPr>
            </a:pPr>
            <a:r>
              <a:rPr sz="1425" b="0" i="0">
                <a:solidFill>
                  <a:srgbClr val="6F716E"/>
                </a:solidFill>
              </a:rPr>
              <a:t>Foundations, components, and behavior</a:t>
            </a:r>
          </a:p>
        </p:txBody>
      </p:sp>
    </p:spTree>
    <p:extLst>
      <p:ext uri="{BB962C8B-B14F-4D97-AF65-F5344CB8AC3E}">
        <p14:creationId xmlns:p14="http://schemas.microsoft.com/office/powerpoint/2010/main" val="739911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WORKFLOWS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At Educative, the collaboration became a blocker when we scaled.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Pagers</a:t>
            </a:r>
            <a:r>
              <a:rPr sz="1650" b="0" i="0">
                <a:solidFill>
                  <a:srgbClr val="D7E0DB"/>
                </a:solidFill>
              </a:rPr>
              <a:t> waited on approvals, </a:t>
            </a:r>
            <a:r>
              <a:rPr sz="1650">
                <a:solidFill>
                  <a:srgbClr val="D7E0DB"/>
                </a:solidFill>
              </a:rPr>
              <a:t>work was getting delayed, and </a:t>
            </a:r>
            <a:r>
              <a:rPr sz="1650" b="0" i="0">
                <a:solidFill>
                  <a:srgbClr val="D7E0DB"/>
                </a:solidFill>
              </a:rPr>
              <a:t>our existing stack didn’t help with that.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821ae9bc34507"/>
          <a:srcRect xmlns:a="http://schemas.openxmlformats.org/drawingml/2006/main" l="0" t="13786" r="0" b="13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162300"/>
            <a:ext cx="10477500" cy="299085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43a9c58ab42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249284" y="3393183"/>
            <a:ext cx="8028431" cy="4255558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5E60147-4224-412D-B744-264AA43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APPROACH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46EB4F-7148-4855-A138-D9585DF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953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Code-first kept the build focused.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81CEED-82AB-439F-AA2F-87669550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2083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moved from design intent to working components with Radix UI and shadcn/ui, using AI-assisted development to accelerate implementation.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5D26EA-CB62-4A15-8E8D-F8D61712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838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I owned the design end to end including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1FE5EC-BA40-4968-B64D-2073EE0B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1295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D720804-6207-46A9-B53D-97506BEF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12954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Product decisions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9B095D8-C411-417C-8E99-A2DF4BE1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16954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100212-3AFC-4021-97C6-A33F482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16954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Information architecture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3AACA5E-543B-439B-A57E-CF12AFC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2095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3EC7449-095B-4C02-9445-90FB5BDA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20955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Interaction model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6563039-E4C5-4EA3-B463-0CE6DF30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2495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8B57920-D789-4612-903F-D341F99D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24955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Quality bar</a:t>
            </a:r>
          </a:p>
        </p:txBody>
      </p:sp>
      <p:pic>
        <p:nvPicPr>
          <p:cNvPr id="33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ed9a265554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133601" y="3543300"/>
            <a:ext cx="7772400" cy="3798812"/>
          </a:xfrm>
          <a:prstGeom xmlns:a="http://schemas.openxmlformats.org/drawingml/2006/main" prst="rect">
            <a:avLst/>
          </a:prstGeom>
        </p:spPr>
      </p:pic>
      <p:pic>
        <p:nvPicPr>
          <p:cNvPr id="3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43a9c58ab42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8459" y="3393183"/>
            <a:ext cx="8028431" cy="4255558"/>
          </a:xfrm>
          <a:prstGeom xmlns:a="http://schemas.openxmlformats.org/drawingml/2006/main" prst="rect">
            <a:avLst/>
          </a:prstGeom>
        </p:spPr>
      </p:pic>
      <p:pic>
        <p:nvPicPr>
          <p:cNvPr id="35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0871ec9f24c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543300"/>
            <a:ext cx="7772400" cy="3773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0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WORKFLOWS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At Educative, the collaboration became a blocker when we scaled.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Pagers</a:t>
            </a:r>
            <a:r>
              <a:rPr sz="1650" b="0" i="0">
                <a:solidFill>
                  <a:srgbClr val="D7E0DB"/>
                </a:solidFill>
              </a:rPr>
              <a:t> waited on approvals, </a:t>
            </a:r>
            <a:r>
              <a:rPr sz="1650">
                <a:solidFill>
                  <a:srgbClr val="D7E0DB"/>
                </a:solidFill>
              </a:rPr>
              <a:t>work was getting delayed, and </a:t>
            </a:r>
            <a:r>
              <a:rPr sz="1650" b="0" i="0">
                <a:solidFill>
                  <a:srgbClr val="D7E0DB"/>
                </a:solidFill>
              </a:rPr>
              <a:t>our existing stack didn’t help with that.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2074f9d1e4288"/>
          <a:srcRect xmlns:a="http://schemas.openxmlformats.org/drawingml/2006/main" l="0" t="13786" r="0" b="13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162300"/>
            <a:ext cx="10477500" cy="299085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C99365-C532-41A8-B5FD-03033A4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PRODUCT DIRECTION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48B0E7-DB2D-49BC-9690-34547038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I designed the product according to how we worked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9499B4-85BB-48C2-B0EE-306D2344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E8213C-1540-4BDC-AB63-082A2694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self-contained knowledge base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AD7D5D3-3F99-44C3-878B-FADB014A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9EF0E4-2DA4-40D8-A1A6-C656A8DC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multiplayer editor for tasks and comments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44705E7-0170-4DC6-A011-4487BC1A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1D9D85-FBD5-44EF-9BC3-128BDA75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review system modeled on pull requests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6D99AF4-3E1A-47B7-AB45-DACD6373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EE98627-D5CE-4325-9E50-3C24159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shared hierarchy from groups to subtasks</a:t>
            </a:r>
          </a:p>
        </p:txBody>
      </p:sp>
      <p:pic>
        <p:nvPicPr>
          <p:cNvPr id="24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8eb5a02484d3c"/>
          <a:srcRect xmlns:a="http://schemas.openxmlformats.org/drawingml/2006/main" l="20934" t="0" r="209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076450"/>
            <a:ext cx="561975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719755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11AE65-5924-4C58-971E-F4E3209F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IMPACT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BBF291-C244-463F-9067-8AB41833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637314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0" i="0">
                <a:solidFill>
                  <a:srgbClr val="F7F8F7"/>
                </a:solidFill>
              </a:defRPr>
            </a:pPr>
            <a:r>
              <a:rPr sz="5700" b="0" i="0">
                <a:solidFill>
                  <a:srgbClr val="F7F8F7"/>
                </a:solidFill>
              </a:rPr>
              <a:t>$100k</a:t>
            </a:r>
            <a:r>
              <a:rPr sz="5700" b="0" i="0">
                <a:solidFill>
                  <a:srgbClr val="F7F8F7"/>
                </a:solidFill>
              </a:rPr>
              <a:t> deal</a:t>
            </a:r>
            <a:r>
              <a:rPr sz="5700" b="0" i="0">
                <a:solidFill>
                  <a:srgbClr val="F7F8F7"/>
                </a:solidFill>
              </a:rPr>
              <a:t> closed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17E846-116F-495E-B726-30692362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0" i="0">
                <a:solidFill>
                  <a:srgbClr val="B9CBB8"/>
                </a:solidFill>
              </a:defRPr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F7470A-E07B-4CDA-A7ED-C206842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F7F8F7"/>
                </a:solidFill>
              </a:defRPr>
            </a:pPr>
            <a:r>
              <a:rPr sz="1950" b="0" i="0">
                <a:solidFill>
                  <a:srgbClr val="F7F8F7"/>
                </a:solidFill>
              </a:rPr>
              <a:t>Workflows helped Educative close its biggest customer yet.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CDD7DF2-598D-4F60-870C-266DD20B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83E"/>
          </a:solidFill>
          <a:ln xmlns:a="http://schemas.openxmlformats.org/drawingml/2006/main" w="0">
            <a:solidFill>
              <a:srgbClr val="2848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C06BB-B390-4517-8CC5-6BFD3F9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BFD0C8"/>
                </a:solidFill>
              </a:defRPr>
            </a:pPr>
            <a:r>
              <a:rPr sz="1350" b="0" i="0">
                <a:solidFill>
                  <a:srgbClr val="BFD0C8"/>
                </a:solidFill>
              </a:rPr>
              <a:t>The outcome tied the product directly to enterprise growth.</a:t>
            </a:r>
          </a:p>
        </p:txBody>
      </p:sp>
    </p:spTree>
    <p:extLst>
      <p:ext uri="{BB962C8B-B14F-4D97-AF65-F5344CB8AC3E}">
        <p14:creationId xmlns:p14="http://schemas.microsoft.com/office/powerpoint/2010/main" val="7887659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52723D-D325-4C7F-B890-7EAB8C1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WORKFLOWS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FC2671-DC9D-47C9-8198-080828F9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 i="0">
                <a:solidFill>
                  <a:srgbClr val="F7F8F7"/>
                </a:solidFill>
              </a:defRPr>
            </a:pPr>
            <a:r>
              <a:rPr sz="3750">
                <a:solidFill>
                  <a:srgbClr val="F7F8F7"/>
                </a:solidFill>
              </a:rPr>
              <a:t>At Educative, the collaboration became a blocker when we scaled.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DB281C-70EF-42FB-BBD2-CF57170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7E0DB"/>
                </a:solidFill>
              </a:defRPr>
            </a:pPr>
            <a:r>
              <a:rPr sz="1650" b="0" i="0">
                <a:solidFill>
                  <a:srgbClr val="D7E0DB"/>
                </a:solidFill>
              </a:rPr>
              <a:t>Pagers</a:t>
            </a:r>
            <a:r>
              <a:rPr sz="1650" b="0" i="0">
                <a:solidFill>
                  <a:srgbClr val="D7E0DB"/>
                </a:solidFill>
              </a:rPr>
              <a:t> waited on approvals, </a:t>
            </a:r>
            <a:r>
              <a:rPr sz="1650">
                <a:solidFill>
                  <a:srgbClr val="D7E0DB"/>
                </a:solidFill>
              </a:rPr>
              <a:t>work was getting delayed, and </a:t>
            </a:r>
            <a:r>
              <a:rPr sz="1650" b="0" i="0">
                <a:solidFill>
                  <a:srgbClr val="D7E0DB"/>
                </a:solidFill>
              </a:rPr>
              <a:t>our existing stack didn’t help with that.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5ff39a9534e6d"/>
          <a:srcRect xmlns:a="http://schemas.openxmlformats.org/drawingml/2006/main" l="0" t="13786" r="0" b="13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162300"/>
            <a:ext cx="10477500" cy="299085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</p:spTree>
    <p:extLst>
      <p:ext uri="{BB962C8B-B14F-4D97-AF65-F5344CB8AC3E}">
        <p14:creationId xmlns:p14="http://schemas.microsoft.com/office/powerpoint/2010/main" val="139364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07BED41-AC7D-4A89-9C0C-7893645B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RESEARCH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DC503A-910F-4B7F-A3FB-5AAF0BA5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286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I spoke with 18 engineering managers and 13 engineers.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9D3707-2224-42F0-B6E5-C2CB1BA8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51716"/>
                </a:solidFill>
              </a:defRPr>
            </a:pPr>
            <a:r>
              <a:rPr sz="1500" b="1" i="0">
                <a:solidFill>
                  <a:srgbClr val="151716"/>
                </a:solidFill>
              </a:rPr>
              <a:t>Goal: Understand the problem space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BD13294-7675-4DCB-BA69-38308C85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F"/>
          </a:solidFill>
          <a:ln xmlns:a="http://schemas.openxmlformats.org/drawingml/2006/main" w="0">
            <a:solidFill>
              <a:srgbClr val="F7ED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B5B35E8-142F-40FB-94AB-6ABE41B4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575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EF"/>
          </a:solidFill>
          <a:ln xmlns:a="http://schemas.openxmlformats.org/drawingml/2006/main" w="0">
            <a:solidFill>
              <a:srgbClr val="EFF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42ADD2C-D966-4381-A6C1-CBAC1160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Assumption</a:t>
            </a:r>
            <a:r>
              <a:rPr sz="1200" b="1" i="0">
                <a:solidFill>
                  <a:srgbClr val="6F716E"/>
                </a:solidFill>
              </a:rPr>
              <a:t>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77AA5B7-85ED-4199-8B4C-0114AC47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 i="0">
                <a:solidFill>
                  <a:srgbClr val="151716"/>
                </a:solidFill>
              </a:defRPr>
            </a:pPr>
            <a:r>
              <a:rPr sz="2850" b="0" i="0">
                <a:solidFill>
                  <a:srgbClr val="151716"/>
                </a:solidFill>
              </a:rPr>
              <a:t>The tooling was broken.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68C131B-10D2-4A0F-A9FC-91D78D6F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6C9E278-F035-4C25-B214-38BFAC97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Standardize content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AEDCFF7-9968-4D4E-881C-3D572236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CE70553-B214-4469-8FE9-0CA3BF74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Fix the journey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B60ECB0-43B4-4B6A-BB94-2FB1B529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7A168-9CF4-432E-8C09-1F5E276B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Add more process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19D0A36-3E40-4D12-B438-63FDE7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43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Findings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32A8CFE-6B0E-44DB-8812-AD485B37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04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 i="0">
                <a:solidFill>
                  <a:srgbClr val="151716"/>
                </a:solidFill>
              </a:defRPr>
            </a:pPr>
            <a:r>
              <a:rPr sz="2850" b="0" i="0">
                <a:solidFill>
                  <a:srgbClr val="151716"/>
                </a:solidFill>
              </a:rPr>
              <a:t>The workflow </a:t>
            </a:r>
            <a:r>
              <a:rPr sz="2850">
                <a:solidFill>
                  <a:srgbClr val="151716"/>
                </a:solidFill>
              </a:rPr>
              <a:t>was not optimized for us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668920A-D64D-44B1-BB97-A4BC2E4D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05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A33D9CD-8024-493E-A462-C04F5EA5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053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Content was </a:t>
            </a:r>
            <a:r>
              <a:rPr sz="1350" b="0" i="0">
                <a:solidFill>
                  <a:srgbClr val="151716"/>
                </a:solidFill>
              </a:rPr>
              <a:t>searchable but scattered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1FD6C4A-5B4A-47E0-9657-FFDB8171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86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6A45CC9-BF04-4EB3-A81C-FCEC4AEA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0863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Lack of updates</a:t>
            </a:r>
            <a:r>
              <a:rPr sz="1350">
                <a:solidFill>
                  <a:srgbClr val="151716"/>
                </a:solidFill>
              </a:rPr>
              <a:t>, lots of things remained stale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0ED315F-2556-40F5-8318-29D497FC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67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51716"/>
                </a:solidFill>
              </a:defRPr>
            </a:pPr>
            <a:r>
              <a:rPr sz="1350" b="1" i="0">
                <a:solidFill>
                  <a:srgbClr val="151716"/>
                </a:solidFill>
              </a:rPr>
              <a:t>•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1B1B97B-C013-4AD0-9327-D8FD31B0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4673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Existing tools worked for separate teams, but not when collaborating</a:t>
            </a:r>
          </a:p>
        </p:txBody>
      </p:sp>
    </p:spTree>
    <p:extLst>
      <p:ext uri="{BB962C8B-B14F-4D97-AF65-F5344CB8AC3E}">
        <p14:creationId xmlns:p14="http://schemas.microsoft.com/office/powerpoint/2010/main" val="11888209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ED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C5B785D-8C64-4C92-BEDF-53D9E7E3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PROBLEM FRAMING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D6C15A-7DB9-4D61-80B5-00AF6F44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0" i="0">
                <a:solidFill>
                  <a:srgbClr val="151716"/>
                </a:solidFill>
              </a:defRPr>
            </a:pPr>
            <a:r>
              <a:rPr sz="4050" b="0" i="0">
                <a:solidFill>
                  <a:srgbClr val="151716"/>
                </a:solidFill>
              </a:rPr>
              <a:t>I classified the problem into two parts: foundation and visibility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6E62DF7-76FA-4830-AB88-46BE8462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BEC2"/>
          </a:solidFill>
          <a:ln xmlns:a="http://schemas.openxmlformats.org/drawingml/2006/main" w="0">
            <a:solidFill>
              <a:srgbClr val="CFBE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A875FE-08B8-43B2-A9D5-2A4FAED4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First-order problem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73FB3D1-120B-443A-857C-D1B4EDC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 i="0">
                <a:solidFill>
                  <a:srgbClr val="151716"/>
                </a:solidFill>
              </a:defRPr>
            </a:pPr>
            <a:r>
              <a:rPr sz="3375" b="0" i="0">
                <a:solidFill>
                  <a:srgbClr val="151716"/>
                </a:solidFill>
              </a:rPr>
              <a:t>How might we organize the work?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D585AA9-A3F0-4CFE-808A-52B14D44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Second-order problem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407CD2-E541-41E1-B6EF-0FE6ACBA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 i="0">
                <a:solidFill>
                  <a:srgbClr val="151716"/>
                </a:solidFill>
              </a:defRPr>
            </a:pPr>
            <a:r>
              <a:rPr sz="3375" b="0" i="0">
                <a:solidFill>
                  <a:srgbClr val="151716"/>
                </a:solidFill>
              </a:rPr>
              <a:t>How might we make progress visible?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DFF4CD9-147F-4B6C-A990-56A80B9D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To make the progress visible, we needed to have a solid foundation to start first. Existing tools were opinionated. We wanted something that worke</a:t>
            </a:r>
            <a:r>
              <a:rPr sz="1500">
                <a:solidFill>
                  <a:srgbClr val="151716"/>
                </a:solidFill>
              </a:rPr>
              <a:t>d for all of our teams.</a:t>
            </a:r>
          </a:p>
        </p:txBody>
      </p:sp>
    </p:spTree>
    <p:extLst>
      <p:ext uri="{BB962C8B-B14F-4D97-AF65-F5344CB8AC3E}">
        <p14:creationId xmlns:p14="http://schemas.microsoft.com/office/powerpoint/2010/main" val="1912604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C99365-C532-41A8-B5FD-03033A4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PRODUCT DIRECTION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48B0E7-DB2D-49BC-9690-34547038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I designed the product according to how we worked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9499B4-85BB-48C2-B0EE-306D2344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E8213C-1540-4BDC-AB63-082A2694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self-contained knowledge base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AD7D5D3-3F99-44C3-878B-FADB014A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9EF0E4-2DA4-40D8-A1A6-C656A8DC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multiplayer editor for tasks and comments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44705E7-0170-4DC6-A011-4487BC1A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1D9D85-FBD5-44EF-9BC3-128BDA75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review system modeled on pull requests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6D99AF4-3E1A-47B7-AB45-DACD6373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65327"/>
                </a:solidFill>
              </a:defRPr>
            </a:pPr>
            <a:r>
              <a:rPr sz="150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EE98627-D5CE-4325-9E50-3C24159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 shared hierarchy from groups to subtasks</a:t>
            </a:r>
          </a:p>
        </p:txBody>
      </p:sp>
      <p:pic>
        <p:nvPicPr>
          <p:cNvPr id="24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8d6ff8d0f421e"/>
          <a:srcRect xmlns:a="http://schemas.openxmlformats.org/drawingml/2006/main" l="20934" t="0" r="209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076450"/>
            <a:ext cx="561975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7197556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5ED6CB2-9707-4A97-B338-65DEB2FB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TIMELINE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541FCB-03BD-4158-9AEE-FFDD45E3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838200"/>
            <a:ext cx="10321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 i="0">
                <a:solidFill>
                  <a:srgbClr val="151716"/>
                </a:solidFill>
              </a:defRPr>
            </a:pPr>
            <a:r>
              <a:rPr sz="3825" b="0" i="0">
                <a:solidFill>
                  <a:srgbClr val="151716"/>
                </a:solidFill>
              </a:rPr>
              <a:t>I shipped a barebones MVP in one week and spent 8 months turning it into a 0 to 100 platform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44C466-A510-4FB6-8C49-6536F83B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F"/>
          </a:solidFill>
          <a:ln xmlns:a="http://schemas.openxmlformats.org/drawingml/2006/main" w="0">
            <a:solidFill>
              <a:srgbClr val="DD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5435495E-001C-481A-8296-A17E279C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FE4"/>
          </a:solidFill>
          <a:ln xmlns:a="http://schemas.openxmlformats.org/drawingml/2006/main" w="0">
            <a:solidFill>
              <a:srgbClr val="F1DF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1D27BD-E9FA-4C61-B97D-58805500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Week 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2F1DAF-A106-4198-BD98-BD6EA08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MVP shipped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6F31C7-8B8A-4DA1-9363-AD0D0FF3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296504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>
                <a:solidFill>
                  <a:srgbClr val="6F716E"/>
                </a:solidFill>
              </a:rPr>
              <a:t>Shipped fast, broke things, learned a lot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8B8F222-4925-4C6B-BF83-47283EB5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FE4"/>
          </a:solidFill>
          <a:ln xmlns:a="http://schemas.openxmlformats.org/drawingml/2006/main" w="0">
            <a:solidFill>
              <a:srgbClr val="F1DF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36F2F8-8F6C-4A34-9BD9-8FD3665B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Months 2–4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3A9D840-E1E0-47E9-9FB6-B0D5AF34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339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Learned and rebuilt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CD82BF1-2043-4D6D-AF7D-56CFFA0A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257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Feedback tools like </a:t>
            </a:r>
            <a:r>
              <a:rPr sz="1275" b="0" i="0">
                <a:solidFill>
                  <a:srgbClr val="6F716E"/>
                </a:solidFill>
              </a:rPr>
              <a:t>Userback</a:t>
            </a:r>
            <a:r>
              <a:rPr sz="1275" b="0" i="0">
                <a:solidFill>
                  <a:srgbClr val="6F716E"/>
                </a:solidFill>
              </a:rPr>
              <a:t>, and analytics informed a few decisions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11D6E5E-33AA-42B6-9FDC-0DA53661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D16"/>
          </a:solidFill>
          <a:ln xmlns:a="http://schemas.openxmlformats.org/drawingml/2006/main" w="0">
            <a:solidFill>
              <a:srgbClr val="061D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07C162F-1D8F-440B-A406-52C502ED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F716E"/>
                </a:solidFill>
              </a:defRPr>
            </a:pPr>
            <a:r>
              <a:rPr sz="1125" b="1" i="0">
                <a:solidFill>
                  <a:srgbClr val="6F716E"/>
                </a:solidFill>
              </a:rPr>
              <a:t>Month 8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2EA142F-C30D-45C9-A4B4-E260259B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339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51716"/>
                </a:solidFill>
              </a:defRPr>
            </a:pPr>
            <a:r>
              <a:rPr sz="2100" b="0" i="0">
                <a:solidFill>
                  <a:srgbClr val="151716"/>
                </a:solidFill>
              </a:rPr>
              <a:t>Platform shipped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7705D4A-BD96-4BEE-A752-15A6FE62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57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Planning, review, and docs connected</a:t>
            </a:r>
          </a:p>
        </p:txBody>
      </p:sp>
    </p:spTree>
    <p:extLst>
      <p:ext uri="{BB962C8B-B14F-4D97-AF65-F5344CB8AC3E}">
        <p14:creationId xmlns:p14="http://schemas.microsoft.com/office/powerpoint/2010/main" val="8277827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what-shipped-eyebrow">
            <a:extLst xmlns:a="http://schemas.openxmlformats.org/drawingml/2006/main">
              <a:ext uri="{FF2B5EF4-FFF2-40B4-BE49-F238E27FC236}">
                <a16:creationId xmlns:a16="http://schemas.microsoft.com/office/drawing/2014/main" id="{0CB588FA-4B72-4FCC-A317-3D61D6EC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01D95293-9F4A-403A-BB2C-27F3A237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Task hub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89fe510b74119"/>
          <a:srcRect xmlns:a="http://schemas.openxmlformats.org/drawingml/2006/main" l="0" t="1250" r="0" b="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1571625"/>
            <a:ext cx="9144000" cy="51435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what-shipped-eyebrow">
            <a:extLst xmlns:a="http://schemas.openxmlformats.org/drawingml/2006/main">
              <a:ext uri="{FF2B5EF4-FFF2-40B4-BE49-F238E27FC236}">
                <a16:creationId xmlns:a16="http://schemas.microsoft.com/office/drawing/2014/main" id="{96A3FAC7-CF71-4FDF-A570-790F2703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A02BCF8B-37EE-446C-96A7-AD96CDD6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Review hub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029bc0d2647e2"/>
          <a:srcRect xmlns:a="http://schemas.openxmlformats.org/drawingml/2006/main" l="0" t="1250" r="0" b="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1571625"/>
            <a:ext cx="9144000" cy="51435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what-shipped-eyebrow">
            <a:extLst xmlns:a="http://schemas.openxmlformats.org/drawingml/2006/main">
              <a:ext uri="{FF2B5EF4-FFF2-40B4-BE49-F238E27FC236}">
                <a16:creationId xmlns:a16="http://schemas.microsoft.com/office/drawing/2014/main" id="{5273DF83-4309-4AAC-AF96-1D35F5F9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837216BE-DB25-47EB-8DD5-CB2D5742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Projects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3d1b1a0634d82"/>
          <a:srcRect xmlns:a="http://schemas.openxmlformats.org/drawingml/2006/main" l="0" t="1250" r="0" b="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1571625"/>
            <a:ext cx="9144000" cy="51435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what-shipped-eyebrow">
            <a:extLst xmlns:a="http://schemas.openxmlformats.org/drawingml/2006/main">
              <a:ext uri="{FF2B5EF4-FFF2-40B4-BE49-F238E27FC236}">
                <a16:creationId xmlns:a16="http://schemas.microsoft.com/office/drawing/2014/main" id="{847AC51F-1E0A-487E-9C62-73F924CE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16E"/>
                </a:solidFill>
              </a:defRPr>
            </a:pPr>
            <a:r>
              <a:rPr sz="1050" b="1">
                <a:solidFill>
                  <a:srgbClr val="6F716E"/>
                </a:solidFill>
              </a:rPr>
              <a:t>WHAT SHIPPED</a:t>
            </a:r>
          </a:p>
        </p:txBody>
      </p:sp>
      <p:sp>
        <p:nvSpPr>
          <p:cNvPr id="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E7737103-6083-4BA8-8564-2A52D7EB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>
                <a:solidFill>
                  <a:srgbClr val="151716"/>
                </a:solidFill>
              </a:defRPr>
            </a:pPr>
            <a:r>
              <a:rPr sz="3525">
                <a:solidFill>
                  <a:srgbClr val="151716"/>
                </a:solidFill>
              </a:rPr>
              <a:t>Document editor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a6504b9044480"/>
          <a:srcRect xmlns:a="http://schemas.openxmlformats.org/drawingml/2006/main" l="0" t="1250" r="0" b="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1571625"/>
            <a:ext cx="9144000" cy="51435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2556541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11AE65-5924-4C58-971E-F4E3209F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IMPACT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BBF291-C244-463F-9067-8AB41833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637314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0" i="0">
                <a:solidFill>
                  <a:srgbClr val="F7F8F7"/>
                </a:solidFill>
              </a:defRPr>
            </a:pPr>
            <a:r>
              <a:rPr sz="5700" b="0" i="0">
                <a:solidFill>
                  <a:srgbClr val="F7F8F7"/>
                </a:solidFill>
              </a:rPr>
              <a:t>$100k</a:t>
            </a:r>
            <a:r>
              <a:rPr sz="5700" b="0" i="0">
                <a:solidFill>
                  <a:srgbClr val="F7F8F7"/>
                </a:solidFill>
              </a:rPr>
              <a:t> deal</a:t>
            </a:r>
            <a:r>
              <a:rPr sz="5700" b="0" i="0">
                <a:solidFill>
                  <a:srgbClr val="F7F8F7"/>
                </a:solidFill>
              </a:rPr>
              <a:t> closed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17E846-116F-495E-B726-30692362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0" i="0">
                <a:solidFill>
                  <a:srgbClr val="B9CBB8"/>
                </a:solidFill>
              </a:defRPr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F7470A-E07B-4CDA-A7ED-C206842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F7F8F7"/>
                </a:solidFill>
              </a:defRPr>
            </a:pPr>
            <a:r>
              <a:rPr sz="1950" b="0" i="0">
                <a:solidFill>
                  <a:srgbClr val="F7F8F7"/>
                </a:solidFill>
              </a:rPr>
              <a:t>Workflows helped Educative close its biggest customer yet.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CDD7DF2-598D-4F60-870C-266DD20B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83E"/>
          </a:solidFill>
          <a:ln xmlns:a="http://schemas.openxmlformats.org/drawingml/2006/main" w="0">
            <a:solidFill>
              <a:srgbClr val="2848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C06BB-B390-4517-8CC5-6BFD3F9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BFD0C8"/>
                </a:solidFill>
              </a:defRPr>
            </a:pPr>
            <a:r>
              <a:rPr sz="1350" b="0" i="0">
                <a:solidFill>
                  <a:srgbClr val="BFD0C8"/>
                </a:solidFill>
              </a:rPr>
              <a:t>The outcome tied the product directly to enterprise growth.</a:t>
            </a:r>
          </a:p>
        </p:txBody>
      </p:sp>
    </p:spTree>
    <p:extLst>
      <p:ext uri="{BB962C8B-B14F-4D97-AF65-F5344CB8AC3E}">
        <p14:creationId xmlns:p14="http://schemas.microsoft.com/office/powerpoint/2010/main" val="7887659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463e48c6548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750" y="2705100"/>
            <a:ext cx="10707624" cy="5095355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89D6E8B-F117-4C5E-AF3E-BC114BC0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6B09C"/>
                </a:solidFill>
              </a:defRPr>
            </a:pPr>
            <a:r>
              <a:rPr sz="1050" b="1" i="0">
                <a:solidFill>
                  <a:srgbClr val="D6B09C"/>
                </a:solidFill>
              </a:rPr>
              <a:t>CAPSTONE MATCHMAKER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E5DFB5-10BB-4470-975A-FA73F8F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0" i="0">
                <a:solidFill>
                  <a:srgbClr val="F7F8F7"/>
                </a:solidFill>
              </a:defRPr>
            </a:pPr>
            <a:r>
              <a:rPr sz="3675" b="0" i="0">
                <a:solidFill>
                  <a:srgbClr val="F7F8F7"/>
                </a:solidFill>
              </a:rPr>
              <a:t>A FERPA-compliant recruitment platform, shipped in under two weeks.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9F5632D-9224-4B21-8CA2-293C7BDC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D5E1DB"/>
                </a:solidFill>
              </a:defRPr>
            </a:pPr>
            <a:r>
              <a:rPr sz="1575" b="0" i="0">
                <a:solidFill>
                  <a:srgbClr val="D5E1DB"/>
                </a:solidFill>
              </a:rPr>
              <a:t>I designed and built the SaaS product end to end with Next.js, PostgreSQL, and AWS EC2.</a:t>
            </a: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daa0b7de747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3915" y="2923190"/>
            <a:ext cx="10232085" cy="4987464"/>
          </a:xfrm>
          <a:prstGeom xmlns:a="http://schemas.openxmlformats.org/drawingml/2006/main" prst="roundRect">
            <a:avLst>
              <a:gd name="adj" fmla="val 2491"/>
            </a:avLst>
          </a:prstGeom>
        </p:spPr>
      </p:pic>
    </p:spTree>
    <p:extLst>
      <p:ext uri="{BB962C8B-B14F-4D97-AF65-F5344CB8AC3E}">
        <p14:creationId xmlns:p14="http://schemas.microsoft.com/office/powerpoint/2010/main" val="5872595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f2e3d7b1149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249284" y="3393183"/>
            <a:ext cx="8028431" cy="4255558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5E60147-4224-412D-B744-264AA43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BUILD APPROACH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46EB4F-7148-4855-A138-D9585DF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953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 i="0">
                <a:solidFill>
                  <a:srgbClr val="151716"/>
                </a:solidFill>
              </a:defRPr>
            </a:pPr>
            <a:r>
              <a:rPr sz="3900" b="0" i="0">
                <a:solidFill>
                  <a:srgbClr val="151716"/>
                </a:solidFill>
              </a:rPr>
              <a:t>Code-first kept the build focused.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81CEED-82AB-439F-AA2F-87669550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2083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moved from design intent to working components with Radix UI and shadcn/ui, using AI-assisted development to accelerate implementation.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5D26EA-CB62-4A15-8E8D-F8D61712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838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I owned the design end to end including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1FE5EC-BA40-4968-B64D-2073EE0B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1295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D720804-6207-46A9-B53D-97506BEF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12954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Product decisions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9B095D8-C411-417C-8E99-A2DF4BE1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16954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100212-3AFC-4021-97C6-A33F482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16954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Information architecture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3AACA5E-543B-439B-A57E-CF12AFC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2095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3EC7449-095B-4C02-9445-90FB5BDA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20955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Interaction model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6563039-E4C5-4EA3-B463-0CE6DF30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703" y="2495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5327"/>
                </a:solidFill>
              </a:defRPr>
            </a:pPr>
            <a:r>
              <a:rPr sz="1350" b="1" i="0">
                <a:solidFill>
                  <a:srgbClr val="B65327"/>
                </a:solidFill>
              </a:rPr>
              <a:t>•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8B57920-D789-4612-903F-D341F99D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403" y="24955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51716"/>
                </a:solidFill>
              </a:defRPr>
            </a:pPr>
            <a:r>
              <a:rPr sz="1350" b="0" i="0">
                <a:solidFill>
                  <a:srgbClr val="151716"/>
                </a:solidFill>
              </a:rPr>
              <a:t>Quality bar</a:t>
            </a:r>
          </a:p>
        </p:txBody>
      </p:sp>
      <p:pic>
        <p:nvPicPr>
          <p:cNvPr id="33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3ee112a7243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133601" y="3543300"/>
            <a:ext cx="7772400" cy="3798812"/>
          </a:xfrm>
          <a:prstGeom xmlns:a="http://schemas.openxmlformats.org/drawingml/2006/main" prst="rect">
            <a:avLst/>
          </a:prstGeom>
        </p:spPr>
      </p:pic>
      <p:pic>
        <p:nvPicPr>
          <p:cNvPr id="3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f2e3d7b1149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8459" y="3393183"/>
            <a:ext cx="8028431" cy="4255558"/>
          </a:xfrm>
          <a:prstGeom xmlns:a="http://schemas.openxmlformats.org/drawingml/2006/main" prst="rect">
            <a:avLst/>
          </a:prstGeom>
        </p:spPr>
      </p:pic>
      <p:pic>
        <p:nvPicPr>
          <p:cNvPr id="35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f9ded818e4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543300"/>
            <a:ext cx="7772400" cy="3773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09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ED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8f6b0e2064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188" y="2388807"/>
            <a:ext cx="10707624" cy="5095355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A710494-21B4-4CEE-A099-A12EAEED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SHIPPED PRODUCT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0366B7-8214-4FB1-952B-F0AD0248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0" i="0">
                <a:solidFill>
                  <a:srgbClr val="151716"/>
                </a:solidFill>
              </a:defRPr>
            </a:pPr>
            <a:r>
              <a:rPr sz="3675" b="0" i="0">
                <a:solidFill>
                  <a:srgbClr val="151716"/>
                </a:solidFill>
              </a:rPr>
              <a:t>All 5 personas have</a:t>
            </a:r>
            <a:r>
              <a:rPr sz="3675" b="0" i="0">
                <a:solidFill>
                  <a:srgbClr val="151716"/>
                </a:solidFill>
              </a:rPr>
              <a:t> actionable dashboards.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C6BC43B-8D12-49BB-909F-149CDC41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51716"/>
                </a:solidFill>
              </a:defRPr>
            </a:pPr>
            <a:r>
              <a:rPr sz="1575" b="0" i="0">
                <a:solidFill>
                  <a:srgbClr val="151716"/>
                </a:solidFill>
              </a:rPr>
              <a:t>I discovered the problems that surfaced throughout the capstone process, and after rigorous prioritization with team, I built dashboards to unblock each user persona.</a:t>
            </a:r>
          </a:p>
        </p:txBody>
      </p:sp>
      <p:pic>
        <p:nvPicPr>
          <p:cNvPr id="1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2e76762f14f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3262" y="2596199"/>
            <a:ext cx="10379027" cy="5052224"/>
          </a:xfrm>
          <a:prstGeom xmlns:a="http://schemas.openxmlformats.org/drawingml/2006/main" prst="roundRect">
            <a:avLst>
              <a:gd name="adj" fmla="val 1403"/>
            </a:avLst>
          </a:prstGeom>
        </p:spPr>
      </p:pic>
    </p:spTree>
    <p:extLst>
      <p:ext uri="{BB962C8B-B14F-4D97-AF65-F5344CB8AC3E}">
        <p14:creationId xmlns:p14="http://schemas.microsoft.com/office/powerpoint/2010/main" val="6825369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8BD71C-4BFC-4515-8E98-29AEF936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DESIGN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E5B953-2A66-4A10-B9A3-290702C8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F7F8F7"/>
                </a:solidFill>
              </a:defRPr>
            </a:pPr>
            <a:r>
              <a:rPr sz="3600" b="0" i="0">
                <a:solidFill>
                  <a:srgbClr val="F7F8F7"/>
                </a:solidFill>
              </a:rPr>
              <a:t>Educative’s first design system unified B2C and B2B products.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9FE7F6-BD9F-4E4F-ADD7-86999262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D7E0DB"/>
                </a:solidFill>
              </a:defRPr>
            </a:pPr>
            <a:r>
              <a:rPr sz="1575" b="0" i="0">
                <a:solidFill>
                  <a:srgbClr val="D7E0DB"/>
                </a:solidFill>
              </a:rPr>
              <a:t>I led the design and implementation from foundations through reusable patterns.</a:t>
            </a:r>
          </a:p>
        </p:txBody>
      </p:sp>
      <p:pic>
        <p:nvPicPr>
          <p:cNvPr id="1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c0041a7ca4e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744950" y="2726843"/>
            <a:ext cx="15681899" cy="77281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256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83959EF-87FB-4809-8234-2A26F2D7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FOUNDATIONS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CEB3D6-A2CD-4161-BB01-44E71189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 i="0">
                <a:solidFill>
                  <a:srgbClr val="151716"/>
                </a:solidFill>
              </a:defRPr>
            </a:pPr>
            <a:r>
              <a:rPr sz="3600" b="0" i="0">
                <a:solidFill>
                  <a:srgbClr val="151716"/>
                </a:solidFill>
              </a:rPr>
              <a:t>The system documented the decisions every product shared.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2DC33E0-3510-4F30-8F88-0CFF6EE1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E1FA2E-4071-41E1-ADEE-8F092066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Type hierarchy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1917C2A-9B73-4470-9769-1A0514DA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54189A9-016E-48A5-A976-3C90AEB1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Color and contrast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E677CA-711C-4E9A-95AF-E9D9F09A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C4FF1A-5709-439C-9D56-AFE5C212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Accessibility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500F952-8A00-409F-8A61-078ED01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9CBB8"/>
                </a:solidFill>
              </a:defRPr>
            </a:pPr>
            <a:r>
              <a:rPr sz="1500" b="1" i="0">
                <a:solidFill>
                  <a:srgbClr val="B9CBB8"/>
                </a:solidFill>
              </a:rP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2AE5694-CB30-4E2D-B318-A05A3C34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51716"/>
                </a:solidFill>
              </a:defRPr>
            </a:pPr>
            <a:r>
              <a:rPr sz="1500" b="0" i="0">
                <a:solidFill>
                  <a:srgbClr val="151716"/>
                </a:solidFill>
              </a:rPr>
              <a:t>Elevation and shadows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1f2c9b6dd4ef6"/>
          <a:srcRect xmlns:a="http://schemas.openxmlformats.org/drawingml/2006/main" l="0" t="0" r="585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6143" y="2357968"/>
            <a:ext cx="8226359" cy="40428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480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ED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0b5c0da1943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085" y="1998752"/>
            <a:ext cx="10707624" cy="5095355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3CCEAFB-380F-4012-885C-DD206D18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716E"/>
                </a:solidFill>
              </a:defRPr>
            </a:pPr>
            <a:r>
              <a:rPr sz="1050" b="1" i="0">
                <a:solidFill>
                  <a:srgbClr val="6F716E"/>
                </a:solidFill>
              </a:rPr>
              <a:t>Side 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E207A1-73B6-4F60-AA1E-AA40C637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74382" cy="699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0" i="0">
                <a:solidFill>
                  <a:srgbClr val="151716"/>
                </a:solidFill>
              </a:defRPr>
            </a:pPr>
            <a:r>
              <a:rPr sz="3525" b="0" i="0">
                <a:solidFill>
                  <a:srgbClr val="151716"/>
                </a:solidFill>
              </a:rPr>
              <a:t>A </a:t>
            </a:r>
            <a:r>
              <a:rPr sz="3525" b="0" i="0">
                <a:solidFill>
                  <a:srgbClr val="151716"/>
                </a:solidFill>
              </a:rPr>
              <a:t>Three.js</a:t>
            </a:r>
            <a:r>
              <a:rPr sz="3525" b="0" i="0">
                <a:solidFill>
                  <a:srgbClr val="151716"/>
                </a:solidFill>
              </a:rPr>
              <a:t> and GLSL based gradient generator</a:t>
            </a:r>
          </a:p>
        </p:txBody>
      </p:sp>
      <p:pic>
        <p:nvPicPr>
          <p:cNvPr id="11" name="Screen Recording 2026-07-29 at 12.58.51 PM (1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2a3d2c09745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277" y="2120165"/>
            <a:ext cx="10490365" cy="5095355"/>
          </a:xfrm>
          <a:prstGeom xmlns:a="http://schemas.openxmlformats.org/drawingml/2006/main" prst="roundRect">
            <a:avLst>
              <a:gd name="adj" fmla="val 3394"/>
            </a:avLst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767423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6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2400F14-6E55-4CC2-B725-D83C26E1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CBB8"/>
                </a:solidFill>
              </a:defRPr>
            </a:pPr>
            <a:r>
              <a:rPr sz="1050" b="1" i="0">
                <a:solidFill>
                  <a:srgbClr val="B9CBB8"/>
                </a:solidFill>
              </a:rPr>
              <a:t>MUSTAFA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E01A92-9662-40AA-A5F3-B6A4B208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81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0" i="0">
                <a:solidFill>
                  <a:srgbClr val="F7F8F7"/>
                </a:solidFill>
              </a:defRPr>
            </a:pPr>
            <a:r>
              <a:rPr sz="5850" b="0" i="0">
                <a:solidFill>
                  <a:srgbClr val="F7F8F7"/>
                </a:solidFill>
              </a:rPr>
              <a:t>Questions?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6E9EEE5-C8C0-48D4-AA63-625F114F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D7E0DB"/>
                </a:solidFill>
              </a:defRPr>
            </a:pPr>
            <a:r>
              <a:rPr sz="1875" b="0" i="0">
                <a:solidFill>
                  <a:srgbClr val="D7E0DB"/>
                </a:solidFill>
              </a:rPr>
              <a:t>Product design, systems, and code.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6651E6-9BFF-4A74-8CE1-8790C89E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83E"/>
          </a:solidFill>
          <a:ln xmlns:a="http://schemas.openxmlformats.org/drawingml/2006/main" w="0">
            <a:solidFill>
              <a:srgbClr val="2848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E08514-4451-40F9-B3FF-BEDFE1E3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9CBB8"/>
                </a:solidFill>
              </a:defRPr>
            </a:pPr>
            <a:r>
              <a:rPr sz="1125" b="1" i="0">
                <a:solidFill>
                  <a:srgbClr val="B9CBB8"/>
                </a:solidFill>
              </a:rPr>
              <a:t>Email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941BC79-2259-4276-AF91-84DEB92A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F7F8F7"/>
                </a:solidFill>
              </a:defRPr>
            </a:pPr>
            <a:r>
              <a:rPr sz="1800" b="0" i="0">
                <a:solidFill>
                  <a:srgbClr val="F7F8F7"/>
                </a:solidFill>
              </a:rPr>
              <a:t>hello@mstf.work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39EEBAE-BA2C-4032-B2B3-36341726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9CBB8"/>
                </a:solidFill>
              </a:defRPr>
            </a:pPr>
            <a:r>
              <a:rPr sz="1125" b="1" i="0">
                <a:solidFill>
                  <a:srgbClr val="B9CBB8"/>
                </a:solidFill>
              </a:rPr>
              <a:t>Phone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0A6BAC6-D50E-4400-8749-FEBBEAB2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F7F8F7"/>
                </a:solidFill>
              </a:defRPr>
            </a:pPr>
            <a:r>
              <a:rPr sz="1800" b="0" i="0">
                <a:solidFill>
                  <a:srgbClr val="F7F8F7"/>
                </a:solidFill>
              </a:rPr>
              <a:t>+1 737 389 0364</a:t>
            </a:r>
          </a:p>
        </p:txBody>
      </p:sp>
    </p:spTree>
    <p:extLst>
      <p:ext uri="{BB962C8B-B14F-4D97-AF65-F5344CB8AC3E}">
        <p14:creationId xmlns:p14="http://schemas.microsoft.com/office/powerpoint/2010/main" val="2018907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2026-08-05T21:48:48.8940000Z</dcterms:created>
  <dcterms:modified xsi:type="dcterms:W3CDTF">2026-08-05T21:48:48.8950000Z</dcterms:modified>
</coreProperties>
</file>