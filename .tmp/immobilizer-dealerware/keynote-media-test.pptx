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dia/media1.mp4" ContentType="video/unknown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Helvetica Neue"/>
      </a:defRPr>
    </a:lvl1pPr>
    <a:lvl2pPr indent="228600" latinLnBrk="0">
      <a:defRPr sz="1200">
        <a:latin typeface="+mn-lt"/>
        <a:ea typeface="+mn-ea"/>
        <a:cs typeface="+mn-cs"/>
        <a:sym typeface="Helvetica Neue"/>
      </a:defRPr>
    </a:lvl2pPr>
    <a:lvl3pPr indent="457200" latinLnBrk="0">
      <a:defRPr sz="1200">
        <a:latin typeface="+mn-lt"/>
        <a:ea typeface="+mn-ea"/>
        <a:cs typeface="+mn-cs"/>
        <a:sym typeface="Helvetica Neue"/>
      </a:defRPr>
    </a:lvl3pPr>
    <a:lvl4pPr indent="685800" latinLnBrk="0">
      <a:defRPr sz="1200">
        <a:latin typeface="+mn-lt"/>
        <a:ea typeface="+mn-ea"/>
        <a:cs typeface="+mn-cs"/>
        <a:sym typeface="Helvetica Neue"/>
      </a:defRPr>
    </a:lvl4pPr>
    <a:lvl5pPr indent="914400" latinLnBrk="0">
      <a:defRPr sz="1200">
        <a:latin typeface="+mn-lt"/>
        <a:ea typeface="+mn-ea"/>
        <a:cs typeface="+mn-cs"/>
        <a:sym typeface="Helvetica Neue"/>
      </a:defRPr>
    </a:lvl5pPr>
    <a:lvl6pPr indent="1143000" latinLnBrk="0">
      <a:defRPr sz="1200">
        <a:latin typeface="+mn-lt"/>
        <a:ea typeface="+mn-ea"/>
        <a:cs typeface="+mn-cs"/>
        <a:sym typeface="Helvetica Neue"/>
      </a:defRPr>
    </a:lvl6pPr>
    <a:lvl7pPr indent="1371600" latinLnBrk="0">
      <a:defRPr sz="1200">
        <a:latin typeface="+mn-lt"/>
        <a:ea typeface="+mn-ea"/>
        <a:cs typeface="+mn-cs"/>
        <a:sym typeface="Helvetica Neue"/>
      </a:defRPr>
    </a:lvl7pPr>
    <a:lvl8pPr indent="1600200" latinLnBrk="0">
      <a:defRPr sz="1200">
        <a:latin typeface="+mn-lt"/>
        <a:ea typeface="+mn-ea"/>
        <a:cs typeface="+mn-cs"/>
        <a:sym typeface="Helvetica Neue"/>
      </a:defRPr>
    </a:lvl8pPr>
    <a:lvl9pPr indent="1828800" latinLnBrk="0">
      <a:defRPr sz="1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1" name="Shape 3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Open with the throughline: product design depth plus the ability to ship in code.</a:t>
            </a:r>
          </a:p>
          <a:p>
            <a:pPr/>
          </a:p>
          <a:p>
            <a:pPr/>
            <a:r>
              <a:t>[Sources]</a:t>
            </a:r>
          </a:p>
          <a:p>
            <a:pPr/>
            <a:r>
              <a:t>- User-provided Pitch deck, slide 1: https://pitch.com/v/slide-deck-jq3j7w</a:t>
            </a:r>
          </a:p>
          <a:p>
            <a:pPr/>
            <a:r>
              <a:t>- User-provided Pitch deck, slide 19: https://pitch.com/v/slide-deck-jq3j7w</a:t>
            </a:r>
          </a:p>
          <a:p>
            <a:pPr/>
            <a:r>
              <a:t>- User-provided Pitch deck, slide 24: https://pitch.com/v/slide-deck-jq3j7w</a:t>
            </a:r>
          </a:p>
          <a:p>
            <a:pPr/>
          </a:p>
          <a:p>
            <a:pPr/>
            <a:r>
              <a:t>- User-provided Engine Immobilizer case study: /Users/mustafa/paper/engine-immobilizer.html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8" name="Shape 4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Set expectations without slide numbers or false section parity.</a:t>
            </a:r>
          </a:p>
          <a:p>
            <a:pPr/>
          </a:p>
          <a:p>
            <a:pPr/>
            <a:r>
              <a:t>[Sources]</a:t>
            </a:r>
          </a:p>
          <a:p>
            <a:pPr/>
            <a:r>
              <a:t>- User-provided Pitch deck, slide 2: https://pitch.com/v/slide-deck-jq3j7w</a:t>
            </a:r>
          </a:p>
          <a:p>
            <a:pPr/>
          </a:p>
          <a:p>
            <a:pPr/>
            <a:r>
              <a:t>- User-provided Engine Immobilizer case study: /Users/mustafa/paper/engine-immobilizer.html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6" name="Shape 5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Lead with the business constraint: Mexico expansion was blocked by one missing fleet-safety capability.</a:t>
            </a:r>
          </a:p>
          <a:p>
            <a:pPr/>
            <a:r>
              <a:t>[Sources]</a:t>
            </a:r>
          </a:p>
          <a:p>
            <a:pPr/>
            <a:r>
              <a:t>- User-provided case study: /Users/mustafa/paper/engine-immobilizer.html</a:t>
            </a:r>
          </a:p>
          <a:p>
            <a:pPr/>
            <a:r>
              <a:t>- User-provided demo: /Users/mustafa/paper/case-media/engine/hero.mp4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Shape 7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Explain that the product had to launch across legacy and future admin states, Fleet View, and Motive’s first third-party hardware.</a:t>
            </a:r>
          </a:p>
          <a:p>
            <a:pPr/>
            <a:r>
              <a:t>[Sources]</a:t>
            </a:r>
          </a:p>
          <a:p>
            <a:pPr/>
            <a:r>
              <a:t>- User-provided case study: /Users/mustafa/paper/engine-immobilizer.html</a:t>
            </a:r>
          </a:p>
          <a:p>
            <a:pPr/>
            <a:r>
              <a:t>- User-provided images: /Users/mustafa/paper/case-media/engine/admin1.0.png; /Users/mustafa/paper/case-media/engine/Admin2.0.png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2" name="Shape 8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Emphasize the ownership decision and the reliability constraints learned from fleet managers.</a:t>
            </a:r>
          </a:p>
          <a:p>
            <a:pPr/>
            <a:r>
              <a:t>[Sources]</a:t>
            </a:r>
          </a:p>
          <a:p>
            <a:pPr/>
            <a:r>
              <a:t>- User-provided case study: /Users/mustafa/paper/engine-immobilizer.html</a:t>
            </a:r>
          </a:p>
          <a:p>
            <a:pPr/>
            <a:r>
              <a:t>- User-provided image: /Users/mustafa/paper/case-media/engine/customer-call.png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6" name="Shape 9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Frame the solution as a safety model, not a single button: permission, preconditions, confirmation, status, auditability, and fallback.</a:t>
            </a:r>
          </a:p>
          <a:p>
            <a:pPr/>
            <a:r>
              <a:t>[Sources]</a:t>
            </a:r>
          </a:p>
          <a:p>
            <a:pPr/>
            <a:r>
              <a:t>- User-provided case study: /Users/mustafa/paper/engine-immobilizer.html</a:t>
            </a:r>
          </a:p>
          <a:p>
            <a:pPr/>
            <a:r>
              <a:t>- User-provided image: /Users/mustafa/paper/case-media/engine/iteration-final.png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10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4" name="Shape 10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Close the case study on business and customer impact before transitioning to Workflows.</a:t>
            </a:r>
          </a:p>
          <a:p>
            <a:pPr/>
            <a:r>
              <a:t>[Sources]</a:t>
            </a:r>
          </a:p>
          <a:p>
            <a:pPr/>
            <a:r>
              <a:t>- User-provided case study: /Users/mustafa/paper/engine-immobilizer.html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1" name="Shape 11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Introduce the company scale before the product.</a:t>
            </a:r>
          </a:p>
          <a:p>
            <a:pPr/>
          </a:p>
          <a:p>
            <a:pPr/>
            <a:r>
              <a:t>[Sources]</a:t>
            </a:r>
          </a:p>
          <a:p>
            <a:pPr/>
            <a:r>
              <a:t>- User-provided Pitch deck, slide 3: https://pitch.com/v/slide-deck-jq3j7w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5" name="Shape 13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State the research insight as a diagnosis, not a list of bullets.</a:t>
            </a:r>
          </a:p>
          <a:p>
            <a:pPr/>
          </a:p>
          <a:p>
            <a:pPr/>
            <a:r>
              <a:t>[Sources]</a:t>
            </a:r>
          </a:p>
          <a:p>
            <a:pPr/>
            <a:r>
              <a:t>- User-provided Pitch deck, slide 6: https://pitch.com/v/slide-deck-jq3j7w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6" name="Shape 14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Explain the order of operations clearly.</a:t>
            </a:r>
          </a:p>
          <a:p>
            <a:pPr/>
          </a:p>
          <a:p>
            <a:pPr/>
            <a:r>
              <a:t>[Sources]</a:t>
            </a:r>
          </a:p>
          <a:p>
            <a:pPr/>
            <a:r>
              <a:t>- User-provided Pitch deck, slide 5: https://pitch.com/v/slide-deck-jq3j7w</a:t>
            </a:r>
          </a:p>
          <a:p>
            <a:pPr/>
            <a:r>
              <a:t>- User-provided Pitch deck, slide 7: https://pitch.com/v/slide-deck-jq3j7w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15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0" name="Shape 16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Connect the feature set to the working model uncovered in research.</a:t>
            </a:r>
          </a:p>
          <a:p>
            <a:pPr/>
          </a:p>
          <a:p>
            <a:pPr/>
            <a:r>
              <a:t>[Sources]</a:t>
            </a:r>
          </a:p>
          <a:p>
            <a:pPr/>
            <a:r>
              <a:t>- User-provided Pitch deck, slide 8: https://pitch.com/v/slide-deck-jq3j7w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17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8" name="Shape 17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Resolve the apparent conflict between one week and eight months.</a:t>
            </a:r>
          </a:p>
          <a:p>
            <a:pPr/>
          </a:p>
          <a:p>
            <a:pPr/>
            <a:r>
              <a:t>[Sources]</a:t>
            </a:r>
          </a:p>
          <a:p>
            <a:pPr/>
            <a:r>
              <a:t>- User-provided Pitch deck, slide 8: https://pitch.com/v/slide-deck-jq3j7w</a:t>
            </a:r>
          </a:p>
          <a:p>
            <a:pPr/>
            <a:r>
              <a:t>- User-provided Pitch deck, slide 10: https://pitch.com/v/slide-deck-jq3j7w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18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4" name="Shape 18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Use this as the product synthesis slide, not four separate reveals.</a:t>
            </a:r>
          </a:p>
          <a:p>
            <a:pPr/>
          </a:p>
          <a:p>
            <a:pPr/>
            <a:r>
              <a:t>[Sources]</a:t>
            </a:r>
          </a:p>
          <a:p>
            <a:pPr/>
            <a:r>
              <a:t>- User-provided Pitch deck, slide 14: https://pitch.com/v/slide-deck-jq3j7w</a:t>
            </a:r>
          </a:p>
          <a:p>
            <a:pPr/>
            <a:r>
              <a:t>- User-provided Pitch deck, slide 15: https://pitch.com/v/slide-deck-jq3j7w</a:t>
            </a:r>
          </a:p>
          <a:p>
            <a:pPr/>
            <a:r>
              <a:t>- User-provided Pitch deck, slide 16: https://pitch.com/v/slide-deck-jq3j7w</a:t>
            </a:r>
          </a:p>
          <a:p>
            <a:pPr/>
            <a:r>
              <a:t>- User-provided Pitch deck, slide 17: https://pitch.com/v/slide-deck-jq3j7w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18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0" name="Shape 19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Use this as the product synthesis slide, not four separate reveals.</a:t>
            </a:r>
          </a:p>
          <a:p>
            <a:pPr/>
          </a:p>
          <a:p>
            <a:pPr/>
            <a:r>
              <a:t>[Sources]</a:t>
            </a:r>
          </a:p>
          <a:p>
            <a:pPr/>
            <a:r>
              <a:t>- User-provided Pitch deck, slide 14: https://pitch.com/v/slide-deck-jq3j7w</a:t>
            </a:r>
          </a:p>
          <a:p>
            <a:pPr/>
            <a:r>
              <a:t>- User-provided Pitch deck, slide 15: https://pitch.com/v/slide-deck-jq3j7w</a:t>
            </a:r>
          </a:p>
          <a:p>
            <a:pPr/>
            <a:r>
              <a:t>- User-provided Pitch deck, slide 16: https://pitch.com/v/slide-deck-jq3j7w</a:t>
            </a:r>
          </a:p>
          <a:p>
            <a:pPr/>
            <a:r>
              <a:t>- User-provided Pitch deck, slide 17: https://pitch.com/v/slide-deck-jq3j7w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19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6" name="Shape 19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Use this as the product synthesis slide, not four separate reveals.</a:t>
            </a:r>
          </a:p>
          <a:p>
            <a:pPr/>
          </a:p>
          <a:p>
            <a:pPr/>
            <a:r>
              <a:t>[Sources]</a:t>
            </a:r>
          </a:p>
          <a:p>
            <a:pPr/>
            <a:r>
              <a:t>- User-provided Pitch deck, slide 14: https://pitch.com/v/slide-deck-jq3j7w</a:t>
            </a:r>
          </a:p>
          <a:p>
            <a:pPr/>
            <a:r>
              <a:t>- User-provided Pitch deck, slide 15: https://pitch.com/v/slide-deck-jq3j7w</a:t>
            </a:r>
          </a:p>
          <a:p>
            <a:pPr/>
            <a:r>
              <a:t>- User-provided Pitch deck, slide 16: https://pitch.com/v/slide-deck-jq3j7w</a:t>
            </a:r>
          </a:p>
          <a:p>
            <a:pPr/>
            <a:r>
              <a:t>- User-provided Pitch deck, slide 17: https://pitch.com/v/slide-deck-jq3j7w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20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2" name="Shape 20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Use this as the product synthesis slide, not four separate reveals.</a:t>
            </a:r>
          </a:p>
          <a:p>
            <a:pPr/>
          </a:p>
          <a:p>
            <a:pPr/>
            <a:r>
              <a:t>[Sources]</a:t>
            </a:r>
          </a:p>
          <a:p>
            <a:pPr/>
            <a:r>
              <a:t>- User-provided Pitch deck, slide 14: https://pitch.com/v/slide-deck-jq3j7w</a:t>
            </a:r>
          </a:p>
          <a:p>
            <a:pPr/>
            <a:r>
              <a:t>- User-provided Pitch deck, slide 15: https://pitch.com/v/slide-deck-jq3j7w</a:t>
            </a:r>
          </a:p>
          <a:p>
            <a:pPr/>
            <a:r>
              <a:t>- User-provided Pitch deck, slide 16: https://pitch.com/v/slide-deck-jq3j7w</a:t>
            </a:r>
          </a:p>
          <a:p>
            <a:pPr/>
            <a:r>
              <a:t>- User-provided Pitch deck, slide 17: https://pitch.com/v/slide-deck-jq3j7w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20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0" name="Shape 21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Be precise about what the source deck claims: a six-figure deal and the biggest customer yet.</a:t>
            </a:r>
          </a:p>
          <a:p>
            <a:pPr/>
          </a:p>
          <a:p>
            <a:pPr/>
            <a:r>
              <a:t>[Sources]</a:t>
            </a:r>
          </a:p>
          <a:p>
            <a:pPr/>
            <a:r>
              <a:t>- User-provided Pitch deck, slide 18: https://pitch.com/v/slide-deck-jq3j7w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Shape 21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8" name="Shape 21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Lead with the product and constraint, not the stack or AI credits.</a:t>
            </a:r>
          </a:p>
          <a:p>
            <a:pPr/>
          </a:p>
          <a:p>
            <a:pPr/>
            <a:r>
              <a:t>[Sources]</a:t>
            </a:r>
          </a:p>
          <a:p>
            <a:pPr/>
            <a:r>
              <a:t>- User-provided Pitch deck, slide 1: https://pitch.com/v/slide-deck-jq3j7w</a:t>
            </a:r>
          </a:p>
          <a:p>
            <a:pPr/>
            <a:r>
              <a:t>- User-provided Pitch deck, slide 19: https://pitch.com/v/slide-deck-jq3j7w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Shape 23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7" name="Shape 23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Explain code-first as a product decision, not a shortcut.</a:t>
            </a:r>
          </a:p>
          <a:p>
            <a:pPr/>
          </a:p>
          <a:p>
            <a:pPr/>
            <a:r>
              <a:t>[Sources]</a:t>
            </a:r>
          </a:p>
          <a:p>
            <a:pPr/>
            <a:r>
              <a:t>- User-provided Pitch deck, slide 20: https://pitch.com/v/slide-deck-jq3j7w</a:t>
            </a:r>
          </a:p>
          <a:p>
            <a:pPr/>
            <a:r>
              <a:t>- User-provided Pitch deck, slide 21: https://pitch.com/v/slide-deck-jq3j7w</a:t>
            </a:r>
          </a:p>
          <a:p>
            <a:pPr/>
            <a:r>
              <a:t>- User-provided Pitch deck, slide 22: https://pitch.com/v/slide-deck-jq3j7w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Shape 24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5" name="Shape 24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Show the outcome of the code-first build.</a:t>
            </a:r>
          </a:p>
          <a:p>
            <a:pPr/>
          </a:p>
          <a:p>
            <a:pPr/>
            <a:r>
              <a:t>[Sources]</a:t>
            </a:r>
          </a:p>
          <a:p>
            <a:pPr/>
            <a:r>
              <a:t>- User-provided Pitch deck, slide 23: https://pitch.com/v/slide-deck-jq3j7w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25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2" name="Shape 25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State the system’s scope without the redundant phrase 'first design system redesigned.'</a:t>
            </a:r>
          </a:p>
          <a:p>
            <a:pPr/>
          </a:p>
          <a:p>
            <a:pPr/>
            <a:r>
              <a:t>[Sources]</a:t>
            </a:r>
          </a:p>
          <a:p>
            <a:pPr/>
            <a:r>
              <a:t>- User-provided Pitch deck, slide 24: https://pitch.com/v/slide-deck-jq3j7w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Shape 26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66" name="Shape 26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Describe what the foundation artifact contains before moving to motion.</a:t>
            </a:r>
          </a:p>
          <a:p>
            <a:pPr/>
          </a:p>
          <a:p>
            <a:pPr/>
            <a:r>
              <a:t>[Sources]</a:t>
            </a:r>
          </a:p>
          <a:p>
            <a:pPr/>
            <a:r>
              <a:t>- User-provided Pitch deck, slide 25: https://pitch.com/v/slide-deck-jq3j7w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Shape 27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73" name="Shape 27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Connect motion back to the design system rather than presenting it as a separate gallery.</a:t>
            </a:r>
          </a:p>
          <a:p>
            <a:pPr/>
          </a:p>
          <a:p>
            <a:pPr/>
            <a:r>
              <a:t>[Sources]</a:t>
            </a:r>
          </a:p>
          <a:p>
            <a:pPr/>
            <a:r>
              <a:t>- User-provided Pitch deck, slide 26: https://pitch.com/v/slide-deck-jq3j7w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hape 28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4" name="Shape 28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Close by returning to the positioning from slide one.</a:t>
            </a:r>
          </a:p>
          <a:p>
            <a:pPr/>
          </a:p>
          <a:p>
            <a:pPr/>
            <a:r>
              <a:t>[Sources]</a:t>
            </a:r>
          </a:p>
          <a:p>
            <a:pPr/>
            <a:r>
              <a:t>- User-provided Pitch deck, slide 27: https://pitch.com/v/slide-deck-jq3j7w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914400" y="1844675"/>
            <a:ext cx="10363200" cy="2041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1828800" y="3886200"/>
            <a:ext cx="8534400" cy="2971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video" Target="../media/media1.mp4"/><Relationship Id="rId5" Type="http://schemas.microsoft.com/office/2007/relationships/media" Target="../media/media1.mp4"/><Relationship Id="rId6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mustafa-title"/>
          <p:cNvSpPr txBox="1"/>
          <p:nvPr/>
        </p:nvSpPr>
        <p:spPr>
          <a:xfrm>
            <a:off x="731519" y="514350"/>
            <a:ext cx="4671062" cy="790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5400">
                <a:solidFill>
                  <a:srgbClr val="151716"/>
                </a:solidFill>
              </a:defRPr>
            </a:lvl1pPr>
          </a:lstStyle>
          <a:p>
            <a:pPr/>
            <a:r>
              <a:t>Mustafa</a:t>
            </a:r>
          </a:p>
        </p:txBody>
      </p:sp>
      <p:sp>
        <p:nvSpPr>
          <p:cNvPr id="21" name="Rectangle 1"/>
          <p:cNvSpPr txBox="1"/>
          <p:nvPr/>
        </p:nvSpPr>
        <p:spPr>
          <a:xfrm>
            <a:off x="731519" y="1428750"/>
            <a:ext cx="4671062" cy="3627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100">
                <a:solidFill>
                  <a:srgbClr val="151716"/>
                </a:solidFill>
              </a:defRPr>
            </a:lvl1pPr>
          </a:lstStyle>
          <a:p>
            <a:pPr/>
            <a:r>
              <a:t>Product designer who codes.</a:t>
            </a:r>
          </a:p>
        </p:txBody>
      </p:sp>
      <p:sp>
        <p:nvSpPr>
          <p:cNvPr id="22" name="Rectangle 2"/>
          <p:cNvSpPr txBox="1"/>
          <p:nvPr/>
        </p:nvSpPr>
        <p:spPr>
          <a:xfrm>
            <a:off x="731519" y="2019300"/>
            <a:ext cx="4671062" cy="554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6F716E"/>
                </a:solidFill>
              </a:defRPr>
            </a:lvl1pPr>
          </a:lstStyle>
          <a:p>
            <a:pPr/>
            <a:r>
              <a:t>I design systems, products, and interfaces, then stay close enough to the code to help ship them.</a:t>
            </a:r>
          </a:p>
        </p:txBody>
      </p:sp>
      <p:sp>
        <p:nvSpPr>
          <p:cNvPr id="23" name="Rectangle 3"/>
          <p:cNvSpPr/>
          <p:nvPr/>
        </p:nvSpPr>
        <p:spPr>
          <a:xfrm>
            <a:off x="6189662" y="590550"/>
            <a:ext cx="12701" cy="2190750"/>
          </a:xfrm>
          <a:prstGeom prst="rect">
            <a:avLst/>
          </a:prstGeom>
          <a:solidFill>
            <a:srgbClr val="DDE2DF"/>
          </a:solidFill>
          <a:ln w="3175">
            <a:solidFill>
              <a:srgbClr val="DDE2D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4" name="Rectangle 4"/>
          <p:cNvSpPr txBox="1"/>
          <p:nvPr/>
        </p:nvSpPr>
        <p:spPr>
          <a:xfrm>
            <a:off x="6617969" y="685800"/>
            <a:ext cx="99062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B9CBB8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25" name="Rectangle 5"/>
          <p:cNvSpPr txBox="1"/>
          <p:nvPr/>
        </p:nvSpPr>
        <p:spPr>
          <a:xfrm>
            <a:off x="6884669" y="685800"/>
            <a:ext cx="4404362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151716"/>
                </a:solidFill>
              </a:defRPr>
            </a:lvl1pPr>
          </a:lstStyle>
          <a:p>
            <a:pPr/>
            <a:r>
              <a:t>Added $8M ARR with Motive’s Engine Immobilizer</a:t>
            </a:r>
          </a:p>
        </p:txBody>
      </p:sp>
      <p:sp>
        <p:nvSpPr>
          <p:cNvPr id="26" name="Rectangle 6"/>
          <p:cNvSpPr txBox="1"/>
          <p:nvPr/>
        </p:nvSpPr>
        <p:spPr>
          <a:xfrm>
            <a:off x="6617969" y="1276350"/>
            <a:ext cx="99062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B9CBB8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27" name="Rectangle 7"/>
          <p:cNvSpPr txBox="1"/>
          <p:nvPr/>
        </p:nvSpPr>
        <p:spPr>
          <a:xfrm>
            <a:off x="6884669" y="1276350"/>
            <a:ext cx="4404362" cy="509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151716"/>
                </a:solidFill>
              </a:defRPr>
            </a:lvl1pPr>
          </a:lstStyle>
          <a:p>
            <a:pPr/>
            <a:r>
              <a:t>Shipped a FERPA-compliant recruitment platform in under two weeks</a:t>
            </a:r>
          </a:p>
        </p:txBody>
      </p:sp>
      <p:sp>
        <p:nvSpPr>
          <p:cNvPr id="28" name="Rectangle 8"/>
          <p:cNvSpPr txBox="1"/>
          <p:nvPr/>
        </p:nvSpPr>
        <p:spPr>
          <a:xfrm>
            <a:off x="6617969" y="1866900"/>
            <a:ext cx="99062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B9CBB8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29" name="Rectangle 9"/>
          <p:cNvSpPr txBox="1"/>
          <p:nvPr/>
        </p:nvSpPr>
        <p:spPr>
          <a:xfrm>
            <a:off x="6884669" y="1866900"/>
            <a:ext cx="4404362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151716"/>
                </a:solidFill>
              </a:defRPr>
            </a:lvl1pPr>
          </a:lstStyle>
          <a:p>
            <a:pPr/>
            <a:r>
              <a:t>Led Educative’s first design system across B2C and B2B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14"/>
          <p:cNvSpPr txBox="1"/>
          <p:nvPr/>
        </p:nvSpPr>
        <p:spPr>
          <a:xfrm>
            <a:off x="731519" y="457200"/>
            <a:ext cx="42900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6F716E"/>
                </a:solidFill>
              </a:defRPr>
            </a:lvl1pPr>
          </a:lstStyle>
          <a:p>
            <a:pPr/>
            <a:r>
              <a:t>SELECTED WORK</a:t>
            </a:r>
          </a:p>
        </p:txBody>
      </p:sp>
      <p:sp>
        <p:nvSpPr>
          <p:cNvPr id="34" name="slide-title"/>
          <p:cNvSpPr txBox="1"/>
          <p:nvPr/>
        </p:nvSpPr>
        <p:spPr>
          <a:xfrm>
            <a:off x="731519" y="838200"/>
            <a:ext cx="8004812" cy="5592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700">
                <a:solidFill>
                  <a:srgbClr val="151716"/>
                </a:solidFill>
              </a:defRPr>
            </a:lvl1pPr>
          </a:lstStyle>
          <a:p>
            <a:pPr/>
            <a:r>
              <a:t>Three projects, one throughline</a:t>
            </a:r>
          </a:p>
        </p:txBody>
      </p:sp>
      <p:sp>
        <p:nvSpPr>
          <p:cNvPr id="35" name="Rectangle 2"/>
          <p:cNvSpPr/>
          <p:nvPr/>
        </p:nvSpPr>
        <p:spPr>
          <a:xfrm>
            <a:off x="685800" y="2246312"/>
            <a:ext cx="10820400" cy="12701"/>
          </a:xfrm>
          <a:prstGeom prst="rect">
            <a:avLst/>
          </a:prstGeom>
          <a:solidFill>
            <a:srgbClr val="151716"/>
          </a:solidFill>
          <a:ln w="3175">
            <a:solidFill>
              <a:srgbClr val="151716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6" name="Rectangle 3"/>
          <p:cNvSpPr txBox="1"/>
          <p:nvPr/>
        </p:nvSpPr>
        <p:spPr>
          <a:xfrm>
            <a:off x="731519" y="2457450"/>
            <a:ext cx="575312" cy="3627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100">
                <a:solidFill>
                  <a:srgbClr val="6F716E"/>
                </a:solidFill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37" name="Rectangle 4"/>
          <p:cNvSpPr txBox="1"/>
          <p:nvPr/>
        </p:nvSpPr>
        <p:spPr>
          <a:xfrm>
            <a:off x="1760219" y="2438400"/>
            <a:ext cx="400431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500">
                <a:solidFill>
                  <a:srgbClr val="151716"/>
                </a:solidFill>
              </a:defRPr>
            </a:lvl1pPr>
          </a:lstStyle>
          <a:p>
            <a:pPr/>
            <a:r>
              <a:t>Engine Immobilizer</a:t>
            </a:r>
          </a:p>
        </p:txBody>
      </p:sp>
      <p:sp>
        <p:nvSpPr>
          <p:cNvPr id="38" name="Rectangle 5"/>
          <p:cNvSpPr txBox="1"/>
          <p:nvPr/>
        </p:nvSpPr>
        <p:spPr>
          <a:xfrm>
            <a:off x="6427469" y="2514600"/>
            <a:ext cx="4671062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6F716E"/>
                </a:solidFill>
              </a:defRPr>
            </a:lvl1pPr>
          </a:lstStyle>
          <a:p>
            <a:pPr/>
            <a:r>
              <a:t>Automotive hardware and fleet safety</a:t>
            </a:r>
          </a:p>
        </p:txBody>
      </p:sp>
      <p:sp>
        <p:nvSpPr>
          <p:cNvPr id="39" name="Rectangle 6"/>
          <p:cNvSpPr/>
          <p:nvPr/>
        </p:nvSpPr>
        <p:spPr>
          <a:xfrm>
            <a:off x="685800" y="3427412"/>
            <a:ext cx="10820400" cy="12701"/>
          </a:xfrm>
          <a:prstGeom prst="rect">
            <a:avLst/>
          </a:prstGeom>
          <a:solidFill>
            <a:srgbClr val="DDE2DF"/>
          </a:solidFill>
          <a:ln w="3175">
            <a:solidFill>
              <a:srgbClr val="DDE2D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0" name="Rectangle 7"/>
          <p:cNvSpPr txBox="1"/>
          <p:nvPr/>
        </p:nvSpPr>
        <p:spPr>
          <a:xfrm>
            <a:off x="731519" y="3638550"/>
            <a:ext cx="575312" cy="3627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100">
                <a:solidFill>
                  <a:srgbClr val="6F716E"/>
                </a:solidFill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41" name="Rectangle 8"/>
          <p:cNvSpPr txBox="1"/>
          <p:nvPr/>
        </p:nvSpPr>
        <p:spPr>
          <a:xfrm>
            <a:off x="1760219" y="3619500"/>
            <a:ext cx="400431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500">
                <a:solidFill>
                  <a:srgbClr val="151716"/>
                </a:solidFill>
              </a:defRPr>
            </a:lvl1pPr>
          </a:lstStyle>
          <a:p>
            <a:pPr/>
            <a:r>
              <a:t>Workflows</a:t>
            </a:r>
          </a:p>
        </p:txBody>
      </p:sp>
      <p:sp>
        <p:nvSpPr>
          <p:cNvPr id="42" name="Rectangle 9"/>
          <p:cNvSpPr txBox="1"/>
          <p:nvPr/>
        </p:nvSpPr>
        <p:spPr>
          <a:xfrm>
            <a:off x="6427469" y="3695700"/>
            <a:ext cx="4671062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6F716E"/>
                </a:solidFill>
              </a:defRPr>
            </a:lvl1pPr>
          </a:lstStyle>
          <a:p>
            <a:pPr/>
            <a:r>
              <a:t>Product strategy and interaction design</a:t>
            </a:r>
          </a:p>
        </p:txBody>
      </p:sp>
      <p:sp>
        <p:nvSpPr>
          <p:cNvPr id="43" name="Rectangle 10"/>
          <p:cNvSpPr/>
          <p:nvPr/>
        </p:nvSpPr>
        <p:spPr>
          <a:xfrm>
            <a:off x="685800" y="4608512"/>
            <a:ext cx="10820400" cy="12701"/>
          </a:xfrm>
          <a:prstGeom prst="rect">
            <a:avLst/>
          </a:prstGeom>
          <a:solidFill>
            <a:srgbClr val="DDE2DF"/>
          </a:solidFill>
          <a:ln w="3175">
            <a:solidFill>
              <a:srgbClr val="DDE2D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4" name="Rectangle 11"/>
          <p:cNvSpPr txBox="1"/>
          <p:nvPr/>
        </p:nvSpPr>
        <p:spPr>
          <a:xfrm>
            <a:off x="731519" y="4819650"/>
            <a:ext cx="575312" cy="3627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100">
                <a:solidFill>
                  <a:srgbClr val="6F716E"/>
                </a:solidFill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45" name="Rectangle 12"/>
          <p:cNvSpPr txBox="1"/>
          <p:nvPr/>
        </p:nvSpPr>
        <p:spPr>
          <a:xfrm>
            <a:off x="1760219" y="4800600"/>
            <a:ext cx="400431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500">
                <a:solidFill>
                  <a:srgbClr val="151716"/>
                </a:solidFill>
              </a:defRPr>
            </a:lvl1pPr>
          </a:lstStyle>
          <a:p>
            <a:pPr/>
            <a:r>
              <a:t>Capstone Matchmaker</a:t>
            </a:r>
          </a:p>
        </p:txBody>
      </p:sp>
      <p:sp>
        <p:nvSpPr>
          <p:cNvPr id="46" name="Rectangle 13"/>
          <p:cNvSpPr txBox="1"/>
          <p:nvPr/>
        </p:nvSpPr>
        <p:spPr>
          <a:xfrm>
            <a:off x="6427469" y="4876800"/>
            <a:ext cx="4671062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6F716E"/>
                </a:solidFill>
              </a:defRPr>
            </a:lvl1pPr>
          </a:lstStyle>
          <a:p>
            <a:pPr/>
            <a:r>
              <a:t>Design and full-stack development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1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"/>
          <p:cNvSpPr txBox="1"/>
          <p:nvPr/>
        </p:nvSpPr>
        <p:spPr>
          <a:xfrm>
            <a:off x="731519" y="457200"/>
            <a:ext cx="42900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B9CBB8"/>
                </a:solidFill>
              </a:defRPr>
            </a:lvl1pPr>
          </a:lstStyle>
          <a:p>
            <a:pPr/>
            <a:r>
              <a:t>ENGINE IMMOBILIZER</a:t>
            </a:r>
          </a:p>
        </p:txBody>
      </p:sp>
      <p:sp>
        <p:nvSpPr>
          <p:cNvPr id="51" name="slide-title"/>
          <p:cNvSpPr txBox="1"/>
          <p:nvPr/>
        </p:nvSpPr>
        <p:spPr>
          <a:xfrm>
            <a:off x="731519" y="838200"/>
            <a:ext cx="8671562" cy="1130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700">
                <a:solidFill>
                  <a:srgbClr val="F7F8F7"/>
                </a:solidFill>
              </a:defRPr>
            </a:lvl1pPr>
          </a:lstStyle>
          <a:p>
            <a:pPr/>
            <a:r>
              <a:t>Remote immobilization was the only core capability missing for Mexico.</a:t>
            </a:r>
          </a:p>
        </p:txBody>
      </p:sp>
      <p:sp>
        <p:nvSpPr>
          <p:cNvPr id="52" name="Rectangle 2"/>
          <p:cNvSpPr txBox="1"/>
          <p:nvPr/>
        </p:nvSpPr>
        <p:spPr>
          <a:xfrm>
            <a:off x="731519" y="2000250"/>
            <a:ext cx="8100062" cy="554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D7E0DB"/>
                </a:solidFill>
              </a:defRPr>
            </a:lvl1pPr>
          </a:lstStyle>
          <a:p>
            <a:pPr/>
            <a:r>
              <a:t>Sales Engineers said 90% of prospects asked for it. Motive had already lost a significant prospect, and the Q1 launch was at risk.</a:t>
            </a:r>
          </a:p>
        </p:txBody>
      </p:sp>
      <p:pic>
        <p:nvPicPr>
          <p:cNvPr id="53" name="Picture 7" descr="Picture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57250" y="3162300"/>
            <a:ext cx="10477500" cy="29908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36" y="0"/>
                </a:moveTo>
                <a:cubicBezTo>
                  <a:pt x="105" y="0"/>
                  <a:pt x="0" y="370"/>
                  <a:pt x="0" y="825"/>
                </a:cubicBezTo>
                <a:lnTo>
                  <a:pt x="0" y="20775"/>
                </a:lnTo>
                <a:cubicBezTo>
                  <a:pt x="0" y="21230"/>
                  <a:pt x="105" y="21600"/>
                  <a:pt x="236" y="21600"/>
                </a:cubicBezTo>
                <a:lnTo>
                  <a:pt x="21364" y="21600"/>
                </a:lnTo>
                <a:cubicBezTo>
                  <a:pt x="21495" y="21600"/>
                  <a:pt x="21600" y="21230"/>
                  <a:pt x="21600" y="20775"/>
                </a:cubicBezTo>
                <a:lnTo>
                  <a:pt x="21600" y="825"/>
                </a:lnTo>
                <a:cubicBezTo>
                  <a:pt x="21600" y="370"/>
                  <a:pt x="21495" y="0"/>
                  <a:pt x="21364" y="0"/>
                </a:cubicBezTo>
                <a:lnTo>
                  <a:pt x="236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54" name="immobilizer-hero-wide.mp4" descr="immobilizer-hero-wide.mp4"/>
          <p:cNvPicPr>
            <a:picLocks noChangeAspect="0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>
            <a:extLst/>
          </a:blip>
          <a:stretch>
            <a:fillRect/>
          </a:stretch>
        </p:blipFill>
        <p:spPr>
          <a:xfrm>
            <a:off x="1143000" y="4216400"/>
            <a:ext cx="13957301" cy="39878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click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866" fill="hold"/>
                                        <p:tgtEl>
                                          <p:spTgt spid="5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0">
                <p:cTn id="7" fill="hold" display="0">
                  <p:stCondLst>
                    <p:cond delay="indefinite"/>
                  </p:stCondLst>
                </p:cTn>
                <p:tgtEl>
                  <p:spTgt spid="54"/>
                </p:tgtEl>
              </p:cMediaNode>
            </p:video>
            <p:seq concurrent="1" prevAc="none" nextAc="seek">
              <p:cTn id="8" evtFilter="cancelBubble" nodeType="interactiveSeq" restart="whenNotActive" fill="hold">
                <p:stCondLst>
                  <p:cond delay="0" evt="onClick">
                    <p:tgtEl>
                      <p:spTgt spid="54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54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21" descr="Picture 2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3393185"/>
            <a:ext cx="5779104" cy="3464815"/>
          </a:xfrm>
          <a:prstGeom prst="rect">
            <a:avLst/>
          </a:prstGeom>
          <a:ln w="12700">
            <a:miter lim="400000"/>
          </a:ln>
        </p:spPr>
      </p:pic>
      <p:sp>
        <p:nvSpPr>
          <p:cNvPr id="59" name="Rectangle 14"/>
          <p:cNvSpPr txBox="1"/>
          <p:nvPr/>
        </p:nvSpPr>
        <p:spPr>
          <a:xfrm>
            <a:off x="731519" y="457200"/>
            <a:ext cx="42900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6F716E"/>
                </a:solidFill>
              </a:defRPr>
            </a:lvl1pPr>
          </a:lstStyle>
          <a:p>
            <a:pPr/>
            <a:r>
              <a:t>SYSTEM COMPLEXITY</a:t>
            </a:r>
          </a:p>
        </p:txBody>
      </p:sp>
      <p:sp>
        <p:nvSpPr>
          <p:cNvPr id="60" name="slide-title"/>
          <p:cNvSpPr txBox="1"/>
          <p:nvPr/>
        </p:nvSpPr>
        <p:spPr>
          <a:xfrm>
            <a:off x="731519" y="838200"/>
            <a:ext cx="4861562" cy="1201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900">
                <a:solidFill>
                  <a:srgbClr val="151716"/>
                </a:solidFill>
              </a:defRPr>
            </a:lvl1pPr>
          </a:lstStyle>
          <a:p>
            <a:pPr/>
            <a:r>
              <a:t>One command. Three systems.</a:t>
            </a:r>
          </a:p>
        </p:txBody>
      </p:sp>
      <p:sp>
        <p:nvSpPr>
          <p:cNvPr id="61" name="Rectangle 2"/>
          <p:cNvSpPr txBox="1"/>
          <p:nvPr/>
        </p:nvSpPr>
        <p:spPr>
          <a:xfrm>
            <a:off x="731519" y="2212083"/>
            <a:ext cx="4861562" cy="735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151716"/>
                </a:solidFill>
              </a:defRPr>
            </a:lvl1pPr>
          </a:lstStyle>
          <a:p>
            <a:pPr/>
            <a:r>
              <a:t>Admin was moving from 1.0 to 2.0, Fleet View was changing, and Motive was sourcing its first third-party hardware. I designed for launch without creating throwaway work.</a:t>
            </a:r>
          </a:p>
        </p:txBody>
      </p:sp>
      <p:sp>
        <p:nvSpPr>
          <p:cNvPr id="62" name="Rectangle 3"/>
          <p:cNvSpPr txBox="1"/>
          <p:nvPr/>
        </p:nvSpPr>
        <p:spPr>
          <a:xfrm>
            <a:off x="7854423" y="838200"/>
            <a:ext cx="276606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6F716E"/>
                </a:solidFill>
              </a:defRPr>
            </a:lvl1pPr>
          </a:lstStyle>
          <a:p>
            <a:pPr/>
            <a:r>
              <a:t>The design had to account for</a:t>
            </a:r>
          </a:p>
        </p:txBody>
      </p:sp>
      <p:sp>
        <p:nvSpPr>
          <p:cNvPr id="63" name="Rectangle 4"/>
          <p:cNvSpPr txBox="1"/>
          <p:nvPr/>
        </p:nvSpPr>
        <p:spPr>
          <a:xfrm>
            <a:off x="7854423" y="1295400"/>
            <a:ext cx="990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B65327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64" name="Rectangle 5"/>
          <p:cNvSpPr txBox="1"/>
          <p:nvPr/>
        </p:nvSpPr>
        <p:spPr>
          <a:xfrm>
            <a:off x="8121123" y="1295400"/>
            <a:ext cx="373761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151716"/>
                </a:solidFill>
              </a:defRPr>
            </a:lvl1pPr>
          </a:lstStyle>
          <a:p>
            <a:pPr/>
            <a:r>
              <a:t>Legacy and future admin states</a:t>
            </a:r>
          </a:p>
        </p:txBody>
      </p:sp>
      <p:sp>
        <p:nvSpPr>
          <p:cNvPr id="65" name="Rectangle 6"/>
          <p:cNvSpPr txBox="1"/>
          <p:nvPr/>
        </p:nvSpPr>
        <p:spPr>
          <a:xfrm>
            <a:off x="7854423" y="1695450"/>
            <a:ext cx="990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B65327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66" name="Rectangle 7"/>
          <p:cNvSpPr txBox="1"/>
          <p:nvPr/>
        </p:nvSpPr>
        <p:spPr>
          <a:xfrm>
            <a:off x="8121123" y="1695450"/>
            <a:ext cx="373761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151716"/>
                </a:solidFill>
              </a:defRPr>
            </a:lvl1pPr>
          </a:lstStyle>
          <a:p>
            <a:pPr/>
            <a:r>
              <a:t>Third-party device pairing</a:t>
            </a:r>
          </a:p>
        </p:txBody>
      </p:sp>
      <p:sp>
        <p:nvSpPr>
          <p:cNvPr id="67" name="Rectangle 8"/>
          <p:cNvSpPr txBox="1"/>
          <p:nvPr/>
        </p:nvSpPr>
        <p:spPr>
          <a:xfrm>
            <a:off x="7854423" y="2095500"/>
            <a:ext cx="990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B65327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68" name="Rectangle 9"/>
          <p:cNvSpPr txBox="1"/>
          <p:nvPr/>
        </p:nvSpPr>
        <p:spPr>
          <a:xfrm>
            <a:off x="8121123" y="2095500"/>
            <a:ext cx="373761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151716"/>
                </a:solidFill>
              </a:defRPr>
            </a:lvl1pPr>
          </a:lstStyle>
          <a:p>
            <a:pPr/>
            <a:r>
              <a:t>Dead zones and command retries</a:t>
            </a:r>
          </a:p>
        </p:txBody>
      </p:sp>
      <p:sp>
        <p:nvSpPr>
          <p:cNvPr id="69" name="Rectangle 10"/>
          <p:cNvSpPr txBox="1"/>
          <p:nvPr/>
        </p:nvSpPr>
        <p:spPr>
          <a:xfrm>
            <a:off x="7854423" y="2495550"/>
            <a:ext cx="990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B65327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70" name="Rectangle 11"/>
          <p:cNvSpPr txBox="1"/>
          <p:nvPr/>
        </p:nvSpPr>
        <p:spPr>
          <a:xfrm>
            <a:off x="8121123" y="2495550"/>
            <a:ext cx="373761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151716"/>
                </a:solidFill>
              </a:defRPr>
            </a:lvl1pPr>
          </a:lstStyle>
          <a:p>
            <a:pPr/>
            <a:r>
              <a:t>Tamper and jammer alerts</a:t>
            </a:r>
          </a:p>
        </p:txBody>
      </p:sp>
      <p:pic>
        <p:nvPicPr>
          <p:cNvPr id="71" name="Picture 16" descr="Picture 1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3543300"/>
            <a:ext cx="5638800" cy="3314700"/>
          </a:xfrm>
          <a:prstGeom prst="rect">
            <a:avLst/>
          </a:prstGeom>
          <a:ln w="12700">
            <a:miter lim="400000"/>
          </a:ln>
        </p:spPr>
      </p:pic>
      <p:pic>
        <p:nvPicPr>
          <p:cNvPr id="72" name="Picture 22" descr="Picture 2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958459" y="3393185"/>
            <a:ext cx="6233541" cy="3464815"/>
          </a:xfrm>
          <a:prstGeom prst="rect">
            <a:avLst/>
          </a:prstGeom>
          <a:ln w="12700">
            <a:miter lim="400000"/>
          </a:ln>
        </p:spPr>
      </p:pic>
      <p:pic>
        <p:nvPicPr>
          <p:cNvPr id="73" name="Picture 19" descr="Picture 1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096000" y="3543300"/>
            <a:ext cx="6096000" cy="33147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1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4"/>
          <p:cNvSpPr txBox="1"/>
          <p:nvPr/>
        </p:nvSpPr>
        <p:spPr>
          <a:xfrm>
            <a:off x="731519" y="457200"/>
            <a:ext cx="42900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B9CBB8"/>
                </a:solidFill>
              </a:defRPr>
            </a:lvl1pPr>
          </a:lstStyle>
          <a:p>
            <a:pPr/>
            <a:r>
              <a:t>CUSTOMER RESEARCH</a:t>
            </a:r>
          </a:p>
        </p:txBody>
      </p:sp>
      <p:sp>
        <p:nvSpPr>
          <p:cNvPr id="78" name="slide-title"/>
          <p:cNvSpPr txBox="1"/>
          <p:nvPr/>
        </p:nvSpPr>
        <p:spPr>
          <a:xfrm>
            <a:off x="731519" y="838200"/>
            <a:ext cx="8671562" cy="1130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700">
                <a:solidFill>
                  <a:srgbClr val="F7F8F7"/>
                </a:solidFill>
              </a:defRPr>
            </a:lvl1pPr>
          </a:lstStyle>
          <a:p>
            <a:pPr/>
            <a:r>
              <a:t>Fleet managers—not drivers—owned the action.</a:t>
            </a:r>
          </a:p>
        </p:txBody>
      </p:sp>
      <p:sp>
        <p:nvSpPr>
          <p:cNvPr id="79" name="Rectangle 2"/>
          <p:cNvSpPr txBox="1"/>
          <p:nvPr/>
        </p:nvSpPr>
        <p:spPr>
          <a:xfrm>
            <a:off x="731519" y="2000250"/>
            <a:ext cx="8100062" cy="554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D7E0DB"/>
                </a:solidFill>
              </a:defRPr>
            </a:lvl1pPr>
          </a:lstStyle>
          <a:p>
            <a:pPr/>
            <a:r>
              <a:t>They used it after theft attempts or drunk driving. Dead zones and cut wiring made fallback states essential.</a:t>
            </a:r>
          </a:p>
        </p:txBody>
      </p:sp>
      <p:pic>
        <p:nvPicPr>
          <p:cNvPr id="80" name="Picture 7" descr="Picture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57250" y="3162300"/>
            <a:ext cx="10477500" cy="29908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36" y="0"/>
                </a:moveTo>
                <a:cubicBezTo>
                  <a:pt x="105" y="0"/>
                  <a:pt x="0" y="370"/>
                  <a:pt x="0" y="825"/>
                </a:cubicBezTo>
                <a:lnTo>
                  <a:pt x="0" y="20775"/>
                </a:lnTo>
                <a:cubicBezTo>
                  <a:pt x="0" y="21230"/>
                  <a:pt x="105" y="21600"/>
                  <a:pt x="236" y="21600"/>
                </a:cubicBezTo>
                <a:lnTo>
                  <a:pt x="21364" y="21600"/>
                </a:lnTo>
                <a:cubicBezTo>
                  <a:pt x="21495" y="21600"/>
                  <a:pt x="21600" y="21230"/>
                  <a:pt x="21600" y="20775"/>
                </a:cubicBezTo>
                <a:lnTo>
                  <a:pt x="21600" y="825"/>
                </a:lnTo>
                <a:cubicBezTo>
                  <a:pt x="21600" y="370"/>
                  <a:pt x="21495" y="0"/>
                  <a:pt x="21364" y="0"/>
                </a:cubicBezTo>
                <a:lnTo>
                  <a:pt x="236" y="0"/>
                </a:lnTo>
                <a:close/>
              </a:path>
            </a:pathLst>
          </a:cu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11"/>
          <p:cNvSpPr txBox="1"/>
          <p:nvPr/>
        </p:nvSpPr>
        <p:spPr>
          <a:xfrm>
            <a:off x="731519" y="457200"/>
            <a:ext cx="42900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6F716E"/>
                </a:solidFill>
              </a:defRPr>
            </a:lvl1pPr>
          </a:lstStyle>
          <a:p>
            <a:pPr/>
            <a:r>
              <a:t>SAFETY MODEL</a:t>
            </a:r>
          </a:p>
        </p:txBody>
      </p:sp>
      <p:sp>
        <p:nvSpPr>
          <p:cNvPr id="85" name="slide-title"/>
          <p:cNvSpPr txBox="1"/>
          <p:nvPr/>
        </p:nvSpPr>
        <p:spPr>
          <a:xfrm>
            <a:off x="731519" y="838200"/>
            <a:ext cx="8766812" cy="1108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151716"/>
                </a:solidFill>
              </a:defRPr>
            </a:lvl1pPr>
          </a:lstStyle>
          <a:p>
            <a:pPr/>
            <a:r>
              <a:t>A dangerous action had to be deliberate and recoverable.</a:t>
            </a:r>
          </a:p>
        </p:txBody>
      </p:sp>
      <p:sp>
        <p:nvSpPr>
          <p:cNvPr id="86" name="Rectangle 2"/>
          <p:cNvSpPr txBox="1"/>
          <p:nvPr/>
        </p:nvSpPr>
        <p:spPr>
          <a:xfrm>
            <a:off x="731519" y="2647950"/>
            <a:ext cx="990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B65327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87" name="Rectangle 3"/>
          <p:cNvSpPr txBox="1"/>
          <p:nvPr/>
        </p:nvSpPr>
        <p:spPr>
          <a:xfrm>
            <a:off x="998219" y="2647950"/>
            <a:ext cx="42138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151716"/>
                </a:solidFill>
              </a:defRPr>
            </a:lvl1pPr>
          </a:lstStyle>
          <a:p>
            <a:pPr/>
            <a:r>
              <a:t>Fleet manager-only control</a:t>
            </a:r>
          </a:p>
        </p:txBody>
      </p:sp>
      <p:sp>
        <p:nvSpPr>
          <p:cNvPr id="88" name="Rectangle 4"/>
          <p:cNvSpPr txBox="1"/>
          <p:nvPr/>
        </p:nvSpPr>
        <p:spPr>
          <a:xfrm>
            <a:off x="731519" y="3200400"/>
            <a:ext cx="990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B65327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89" name="Rectangle 5"/>
          <p:cNvSpPr txBox="1"/>
          <p:nvPr/>
        </p:nvSpPr>
        <p:spPr>
          <a:xfrm>
            <a:off x="998219" y="3200400"/>
            <a:ext cx="42138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151716"/>
                </a:solidFill>
              </a:defRPr>
            </a:lvl1pPr>
          </a:lstStyle>
          <a:p>
            <a:pPr/>
            <a:r>
              <a:t>The vehicle had to be stopped</a:t>
            </a:r>
          </a:p>
        </p:txBody>
      </p:sp>
      <p:sp>
        <p:nvSpPr>
          <p:cNvPr id="90" name="Rectangle 6"/>
          <p:cNvSpPr txBox="1"/>
          <p:nvPr/>
        </p:nvSpPr>
        <p:spPr>
          <a:xfrm>
            <a:off x="731519" y="3752850"/>
            <a:ext cx="990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B65327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91" name="Rectangle 7"/>
          <p:cNvSpPr txBox="1"/>
          <p:nvPr/>
        </p:nvSpPr>
        <p:spPr>
          <a:xfrm>
            <a:off x="998219" y="3752850"/>
            <a:ext cx="42138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151716"/>
                </a:solidFill>
              </a:defRPr>
            </a:lvl1pPr>
          </a:lstStyle>
          <a:p>
            <a:pPr/>
            <a:r>
              <a:t>Confirmation, command status, and audit trail</a:t>
            </a:r>
          </a:p>
        </p:txBody>
      </p:sp>
      <p:sp>
        <p:nvSpPr>
          <p:cNvPr id="92" name="Rectangle 8"/>
          <p:cNvSpPr txBox="1"/>
          <p:nvPr/>
        </p:nvSpPr>
        <p:spPr>
          <a:xfrm>
            <a:off x="731519" y="4305300"/>
            <a:ext cx="990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B65327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93" name="Rectangle 9"/>
          <p:cNvSpPr txBox="1"/>
          <p:nvPr/>
        </p:nvSpPr>
        <p:spPr>
          <a:xfrm>
            <a:off x="998219" y="4305300"/>
            <a:ext cx="42138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151716"/>
                </a:solidFill>
              </a:defRPr>
            </a:lvl1pPr>
          </a:lstStyle>
          <a:p>
            <a:pPr/>
            <a:r>
              <a:t>Tamper, jammer, and dead-zone fallbacks</a:t>
            </a:r>
          </a:p>
        </p:txBody>
      </p:sp>
      <p:pic>
        <p:nvPicPr>
          <p:cNvPr id="94" name="Picture 21" descr="Picture 2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905500" y="2076450"/>
            <a:ext cx="5619750" cy="381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39" y="0"/>
                </a:moveTo>
                <a:cubicBezTo>
                  <a:pt x="197" y="0"/>
                  <a:pt x="0" y="290"/>
                  <a:pt x="0" y="648"/>
                </a:cubicBezTo>
                <a:lnTo>
                  <a:pt x="0" y="20952"/>
                </a:lnTo>
                <a:cubicBezTo>
                  <a:pt x="0" y="21310"/>
                  <a:pt x="197" y="21600"/>
                  <a:pt x="439" y="21600"/>
                </a:cubicBezTo>
                <a:lnTo>
                  <a:pt x="21161" y="21600"/>
                </a:lnTo>
                <a:cubicBezTo>
                  <a:pt x="21403" y="21600"/>
                  <a:pt x="21600" y="21310"/>
                  <a:pt x="21600" y="20952"/>
                </a:cubicBezTo>
                <a:lnTo>
                  <a:pt x="21600" y="648"/>
                </a:lnTo>
                <a:cubicBezTo>
                  <a:pt x="21600" y="290"/>
                  <a:pt x="21403" y="0"/>
                  <a:pt x="21161" y="0"/>
                </a:cubicBezTo>
                <a:lnTo>
                  <a:pt x="439" y="0"/>
                </a:lnTo>
                <a:close/>
              </a:path>
            </a:pathLst>
          </a:cu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1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6"/>
          <p:cNvSpPr txBox="1"/>
          <p:nvPr/>
        </p:nvSpPr>
        <p:spPr>
          <a:xfrm>
            <a:off x="731519" y="457200"/>
            <a:ext cx="42900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B9CBB8"/>
                </a:solidFill>
              </a:defRPr>
            </a:lvl1pPr>
          </a:lstStyle>
          <a:p>
            <a:pPr/>
            <a:r>
              <a:t>IMPACT</a:t>
            </a:r>
          </a:p>
        </p:txBody>
      </p:sp>
      <p:sp>
        <p:nvSpPr>
          <p:cNvPr id="99" name="Rectangle 1"/>
          <p:cNvSpPr txBox="1"/>
          <p:nvPr/>
        </p:nvSpPr>
        <p:spPr>
          <a:xfrm>
            <a:off x="731520" y="1676400"/>
            <a:ext cx="4545874" cy="17096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5700">
                <a:solidFill>
                  <a:srgbClr val="F7F8F7"/>
                </a:solidFill>
              </a:defRPr>
            </a:pPr>
            <a:r>
              <a:t>Added $8M</a:t>
            </a:r>
          </a:p>
          <a:p>
            <a:pPr>
              <a:defRPr sz="5700">
                <a:solidFill>
                  <a:srgbClr val="F7F8F7"/>
                </a:solidFill>
              </a:defRPr>
            </a:pPr>
            <a:r>
              <a:t>to ARR</a:t>
            </a:r>
          </a:p>
        </p:txBody>
      </p:sp>
      <p:sp>
        <p:nvSpPr>
          <p:cNvPr id="100" name="Rectangle 3"/>
          <p:cNvSpPr txBox="1"/>
          <p:nvPr/>
        </p:nvSpPr>
        <p:spPr>
          <a:xfrm>
            <a:off x="7284719" y="2286000"/>
            <a:ext cx="3813812" cy="622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900">
                <a:solidFill>
                  <a:srgbClr val="F7F8F7"/>
                </a:solidFill>
              </a:defRPr>
            </a:lvl1pPr>
          </a:lstStyle>
          <a:p>
            <a:pPr/>
            <a:r>
              <a:t>Engine Immobilizer gave Sales the last core capability needed for Mexico.</a:t>
            </a:r>
          </a:p>
        </p:txBody>
      </p:sp>
      <p:sp>
        <p:nvSpPr>
          <p:cNvPr id="101" name="Rectangle 4"/>
          <p:cNvSpPr/>
          <p:nvPr/>
        </p:nvSpPr>
        <p:spPr>
          <a:xfrm>
            <a:off x="685800" y="5713412"/>
            <a:ext cx="10820400" cy="12701"/>
          </a:xfrm>
          <a:prstGeom prst="rect">
            <a:avLst/>
          </a:prstGeom>
          <a:solidFill>
            <a:srgbClr val="28483E"/>
          </a:solidFill>
          <a:ln w="3175">
            <a:solidFill>
              <a:srgbClr val="28483E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02" name="Rectangle 5"/>
          <p:cNvSpPr txBox="1"/>
          <p:nvPr/>
        </p:nvSpPr>
        <p:spPr>
          <a:xfrm>
            <a:off x="731519" y="5962650"/>
            <a:ext cx="71475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BFD0C8"/>
                </a:solidFill>
              </a:defRPr>
            </a:lvl1pPr>
          </a:lstStyle>
          <a:p>
            <a:pPr/>
            <a:r>
              <a:t>It also supported lower insurance premiums and reduced cargo-theft risk.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1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4"/>
          <p:cNvSpPr txBox="1"/>
          <p:nvPr/>
        </p:nvSpPr>
        <p:spPr>
          <a:xfrm>
            <a:off x="731519" y="457200"/>
            <a:ext cx="42900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B9CBB8"/>
                </a:solidFill>
              </a:defRPr>
            </a:lvl1pPr>
          </a:lstStyle>
          <a:p>
            <a:pPr/>
            <a:r>
              <a:t>WORKFLOWS</a:t>
            </a:r>
          </a:p>
        </p:txBody>
      </p:sp>
      <p:sp>
        <p:nvSpPr>
          <p:cNvPr id="107" name="slide-title"/>
          <p:cNvSpPr txBox="1"/>
          <p:nvPr/>
        </p:nvSpPr>
        <p:spPr>
          <a:xfrm>
            <a:off x="731519" y="838200"/>
            <a:ext cx="8671562" cy="1130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700">
                <a:solidFill>
                  <a:srgbClr val="F7F8F7"/>
                </a:solidFill>
              </a:defRPr>
            </a:lvl1pPr>
          </a:lstStyle>
          <a:p>
            <a:pPr/>
            <a:r>
              <a:t>At Educative, the collaboration became a blocker when we scaled.</a:t>
            </a:r>
          </a:p>
        </p:txBody>
      </p:sp>
      <p:sp>
        <p:nvSpPr>
          <p:cNvPr id="108" name="Rectangle 2"/>
          <p:cNvSpPr txBox="1"/>
          <p:nvPr/>
        </p:nvSpPr>
        <p:spPr>
          <a:xfrm>
            <a:off x="731519" y="2000250"/>
            <a:ext cx="8100062" cy="554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D7E0DB"/>
                </a:solidFill>
              </a:defRPr>
            </a:lvl1pPr>
          </a:lstStyle>
          <a:p>
            <a:pPr/>
            <a:r>
              <a:t>Pagers waited on approvals, work was getting delayed, and our existing stack didn’t help with that.</a:t>
            </a:r>
          </a:p>
        </p:txBody>
      </p:sp>
      <p:pic>
        <p:nvPicPr>
          <p:cNvPr id="109" name="Picture 7" descr="Picture 7"/>
          <p:cNvPicPr>
            <a:picLocks noChangeAspect="1"/>
          </p:cNvPicPr>
          <p:nvPr/>
        </p:nvPicPr>
        <p:blipFill>
          <a:blip r:embed="rId3">
            <a:extLst/>
          </a:blip>
          <a:srcRect l="0" t="13786" r="0" b="13785"/>
          <a:stretch>
            <a:fillRect/>
          </a:stretch>
        </p:blipFill>
        <p:spPr>
          <a:xfrm>
            <a:off x="857250" y="3162300"/>
            <a:ext cx="10477500" cy="29908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36" y="0"/>
                </a:moveTo>
                <a:cubicBezTo>
                  <a:pt x="105" y="0"/>
                  <a:pt x="0" y="370"/>
                  <a:pt x="0" y="825"/>
                </a:cubicBezTo>
                <a:lnTo>
                  <a:pt x="0" y="20775"/>
                </a:lnTo>
                <a:cubicBezTo>
                  <a:pt x="0" y="21230"/>
                  <a:pt x="105" y="21600"/>
                  <a:pt x="236" y="21600"/>
                </a:cubicBezTo>
                <a:lnTo>
                  <a:pt x="21364" y="21600"/>
                </a:lnTo>
                <a:cubicBezTo>
                  <a:pt x="21495" y="21600"/>
                  <a:pt x="21600" y="21230"/>
                  <a:pt x="21600" y="20775"/>
                </a:cubicBezTo>
                <a:lnTo>
                  <a:pt x="21600" y="825"/>
                </a:lnTo>
                <a:cubicBezTo>
                  <a:pt x="21600" y="370"/>
                  <a:pt x="21495" y="0"/>
                  <a:pt x="21364" y="0"/>
                </a:cubicBezTo>
                <a:lnTo>
                  <a:pt x="236" y="0"/>
                </a:lnTo>
                <a:close/>
              </a:path>
            </a:pathLst>
          </a:cu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angle 21"/>
          <p:cNvSpPr txBox="1"/>
          <p:nvPr/>
        </p:nvSpPr>
        <p:spPr>
          <a:xfrm>
            <a:off x="731519" y="457200"/>
            <a:ext cx="42900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6F716E"/>
                </a:solidFill>
              </a:defRPr>
            </a:lvl1pPr>
          </a:lstStyle>
          <a:p>
            <a:pPr/>
            <a:r>
              <a:t>RESEARCH</a:t>
            </a:r>
          </a:p>
        </p:txBody>
      </p:sp>
      <p:sp>
        <p:nvSpPr>
          <p:cNvPr id="114" name="slide-title"/>
          <p:cNvSpPr txBox="1"/>
          <p:nvPr/>
        </p:nvSpPr>
        <p:spPr>
          <a:xfrm>
            <a:off x="731519" y="838200"/>
            <a:ext cx="8195312" cy="1201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900">
                <a:solidFill>
                  <a:srgbClr val="151716"/>
                </a:solidFill>
              </a:defRPr>
            </a:lvl1pPr>
          </a:lstStyle>
          <a:p>
            <a:pPr/>
            <a:r>
              <a:t>I spoke with 18 engineering managers and 13 engineers.</a:t>
            </a:r>
          </a:p>
        </p:txBody>
      </p:sp>
      <p:sp>
        <p:nvSpPr>
          <p:cNvPr id="115" name="Rectangle 2"/>
          <p:cNvSpPr txBox="1"/>
          <p:nvPr/>
        </p:nvSpPr>
        <p:spPr>
          <a:xfrm>
            <a:off x="731519" y="2381250"/>
            <a:ext cx="58140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151716"/>
                </a:solidFill>
              </a:defRPr>
            </a:lvl1pPr>
          </a:lstStyle>
          <a:p>
            <a:pPr/>
            <a:r>
              <a:t>Goal: Understand the problem space</a:t>
            </a:r>
          </a:p>
        </p:txBody>
      </p:sp>
      <p:sp>
        <p:nvSpPr>
          <p:cNvPr id="116" name="Rectangle 3"/>
          <p:cNvSpPr/>
          <p:nvPr/>
        </p:nvSpPr>
        <p:spPr>
          <a:xfrm>
            <a:off x="685800" y="2857500"/>
            <a:ext cx="5095875" cy="3333750"/>
          </a:xfrm>
          <a:prstGeom prst="rect">
            <a:avLst/>
          </a:prstGeom>
          <a:solidFill>
            <a:srgbClr val="F7EDEF"/>
          </a:solidFill>
          <a:ln w="3175">
            <a:solidFill>
              <a:srgbClr val="F7EDE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17" name="Rectangle 4"/>
          <p:cNvSpPr/>
          <p:nvPr/>
        </p:nvSpPr>
        <p:spPr>
          <a:xfrm>
            <a:off x="6410325" y="2857500"/>
            <a:ext cx="5095875" cy="3333750"/>
          </a:xfrm>
          <a:prstGeom prst="rect">
            <a:avLst/>
          </a:prstGeom>
          <a:solidFill>
            <a:srgbClr val="EFF1EF"/>
          </a:solidFill>
          <a:ln w="3175">
            <a:solidFill>
              <a:srgbClr val="EFF1E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18" name="Rectangle 5"/>
          <p:cNvSpPr txBox="1"/>
          <p:nvPr/>
        </p:nvSpPr>
        <p:spPr>
          <a:xfrm>
            <a:off x="1036319" y="3143250"/>
            <a:ext cx="27660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6F716E"/>
                </a:solidFill>
              </a:defRPr>
            </a:lvl1pPr>
          </a:lstStyle>
          <a:p>
            <a:pPr/>
            <a:r>
              <a:t>Assumptions</a:t>
            </a:r>
          </a:p>
        </p:txBody>
      </p:sp>
      <p:sp>
        <p:nvSpPr>
          <p:cNvPr id="119" name="Rectangle 6"/>
          <p:cNvSpPr txBox="1"/>
          <p:nvPr/>
        </p:nvSpPr>
        <p:spPr>
          <a:xfrm>
            <a:off x="1036319" y="3600450"/>
            <a:ext cx="3909062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800">
                <a:solidFill>
                  <a:srgbClr val="151716"/>
                </a:solidFill>
              </a:defRPr>
            </a:lvl1pPr>
          </a:lstStyle>
          <a:p>
            <a:pPr/>
            <a:r>
              <a:t>The tooling was broken.</a:t>
            </a:r>
          </a:p>
        </p:txBody>
      </p:sp>
      <p:sp>
        <p:nvSpPr>
          <p:cNvPr id="120" name="Rectangle 7"/>
          <p:cNvSpPr txBox="1"/>
          <p:nvPr/>
        </p:nvSpPr>
        <p:spPr>
          <a:xfrm>
            <a:off x="1036319" y="4705350"/>
            <a:ext cx="990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151716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121" name="Rectangle 8"/>
          <p:cNvSpPr txBox="1"/>
          <p:nvPr/>
        </p:nvSpPr>
        <p:spPr>
          <a:xfrm>
            <a:off x="1303019" y="4705350"/>
            <a:ext cx="3642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151716"/>
                </a:solidFill>
              </a:defRPr>
            </a:lvl1pPr>
          </a:lstStyle>
          <a:p>
            <a:pPr/>
            <a:r>
              <a:t>Standardize content</a:t>
            </a:r>
          </a:p>
        </p:txBody>
      </p:sp>
      <p:sp>
        <p:nvSpPr>
          <p:cNvPr id="122" name="Rectangle 9"/>
          <p:cNvSpPr txBox="1"/>
          <p:nvPr/>
        </p:nvSpPr>
        <p:spPr>
          <a:xfrm>
            <a:off x="1036319" y="5086350"/>
            <a:ext cx="990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151716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123" name="Rectangle 10"/>
          <p:cNvSpPr txBox="1"/>
          <p:nvPr/>
        </p:nvSpPr>
        <p:spPr>
          <a:xfrm>
            <a:off x="1303019" y="5086350"/>
            <a:ext cx="3642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151716"/>
                </a:solidFill>
              </a:defRPr>
            </a:lvl1pPr>
          </a:lstStyle>
          <a:p>
            <a:pPr/>
            <a:r>
              <a:t>Fix the journey</a:t>
            </a:r>
          </a:p>
        </p:txBody>
      </p:sp>
      <p:sp>
        <p:nvSpPr>
          <p:cNvPr id="124" name="Rectangle 11"/>
          <p:cNvSpPr txBox="1"/>
          <p:nvPr/>
        </p:nvSpPr>
        <p:spPr>
          <a:xfrm>
            <a:off x="1036319" y="5467350"/>
            <a:ext cx="990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151716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125" name="Rectangle 12"/>
          <p:cNvSpPr txBox="1"/>
          <p:nvPr/>
        </p:nvSpPr>
        <p:spPr>
          <a:xfrm>
            <a:off x="1303019" y="5467350"/>
            <a:ext cx="3642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151716"/>
                </a:solidFill>
              </a:defRPr>
            </a:lvl1pPr>
          </a:lstStyle>
          <a:p>
            <a:pPr/>
            <a:r>
              <a:t>Add more process</a:t>
            </a:r>
          </a:p>
        </p:txBody>
      </p:sp>
      <p:sp>
        <p:nvSpPr>
          <p:cNvPr id="126" name="Rectangle 13"/>
          <p:cNvSpPr txBox="1"/>
          <p:nvPr/>
        </p:nvSpPr>
        <p:spPr>
          <a:xfrm>
            <a:off x="6760844" y="3143250"/>
            <a:ext cx="27660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6F716E"/>
                </a:solidFill>
              </a:defRPr>
            </a:lvl1pPr>
          </a:lstStyle>
          <a:p>
            <a:pPr/>
            <a:r>
              <a:t>Findings</a:t>
            </a:r>
          </a:p>
        </p:txBody>
      </p:sp>
      <p:sp>
        <p:nvSpPr>
          <p:cNvPr id="127" name="Rectangle 14"/>
          <p:cNvSpPr txBox="1"/>
          <p:nvPr/>
        </p:nvSpPr>
        <p:spPr>
          <a:xfrm>
            <a:off x="6760844" y="3600450"/>
            <a:ext cx="4194812" cy="87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800">
                <a:solidFill>
                  <a:srgbClr val="151716"/>
                </a:solidFill>
              </a:defRPr>
            </a:lvl1pPr>
          </a:lstStyle>
          <a:p>
            <a:pPr/>
            <a:r>
              <a:t>The workflow was not optimized for us</a:t>
            </a:r>
          </a:p>
        </p:txBody>
      </p:sp>
      <p:sp>
        <p:nvSpPr>
          <p:cNvPr id="128" name="Rectangle 15"/>
          <p:cNvSpPr txBox="1"/>
          <p:nvPr/>
        </p:nvSpPr>
        <p:spPr>
          <a:xfrm>
            <a:off x="6760844" y="4705350"/>
            <a:ext cx="990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151716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129" name="Rectangle 16"/>
          <p:cNvSpPr txBox="1"/>
          <p:nvPr/>
        </p:nvSpPr>
        <p:spPr>
          <a:xfrm>
            <a:off x="7027544" y="4705350"/>
            <a:ext cx="373761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151716"/>
                </a:solidFill>
              </a:defRPr>
            </a:lvl1pPr>
          </a:lstStyle>
          <a:p>
            <a:pPr/>
            <a:r>
              <a:t>Content was searchable but scattered</a:t>
            </a:r>
          </a:p>
        </p:txBody>
      </p:sp>
      <p:sp>
        <p:nvSpPr>
          <p:cNvPr id="130" name="Rectangle 17"/>
          <p:cNvSpPr txBox="1"/>
          <p:nvPr/>
        </p:nvSpPr>
        <p:spPr>
          <a:xfrm>
            <a:off x="6760844" y="5086350"/>
            <a:ext cx="990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151716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131" name="Rectangle 18"/>
          <p:cNvSpPr txBox="1"/>
          <p:nvPr/>
        </p:nvSpPr>
        <p:spPr>
          <a:xfrm>
            <a:off x="7027544" y="5086350"/>
            <a:ext cx="373761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151716"/>
                </a:solidFill>
              </a:defRPr>
            </a:lvl1pPr>
          </a:lstStyle>
          <a:p>
            <a:pPr/>
            <a:r>
              <a:t>Lack of updates, lots of things remained stale</a:t>
            </a:r>
          </a:p>
        </p:txBody>
      </p:sp>
      <p:sp>
        <p:nvSpPr>
          <p:cNvPr id="132" name="Rectangle 19"/>
          <p:cNvSpPr txBox="1"/>
          <p:nvPr/>
        </p:nvSpPr>
        <p:spPr>
          <a:xfrm>
            <a:off x="6760844" y="5467350"/>
            <a:ext cx="990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151716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133" name="Rectangle 20"/>
          <p:cNvSpPr txBox="1"/>
          <p:nvPr/>
        </p:nvSpPr>
        <p:spPr>
          <a:xfrm>
            <a:off x="7027544" y="5467350"/>
            <a:ext cx="3737612" cy="46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151716"/>
                </a:solidFill>
              </a:defRPr>
            </a:lvl1pPr>
          </a:lstStyle>
          <a:p>
            <a:pPr/>
            <a:r>
              <a:t>Existing tools worked for separate teams, but not when collaborating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ED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 8"/>
          <p:cNvSpPr txBox="1"/>
          <p:nvPr/>
        </p:nvSpPr>
        <p:spPr>
          <a:xfrm>
            <a:off x="731519" y="457200"/>
            <a:ext cx="42900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6F716E"/>
                </a:solidFill>
              </a:defRPr>
            </a:lvl1pPr>
          </a:lstStyle>
          <a:p>
            <a:pPr/>
            <a:r>
              <a:t>PROBLEM FRAMING</a:t>
            </a:r>
          </a:p>
        </p:txBody>
      </p:sp>
      <p:sp>
        <p:nvSpPr>
          <p:cNvPr id="138" name="slide-title"/>
          <p:cNvSpPr txBox="1"/>
          <p:nvPr/>
        </p:nvSpPr>
        <p:spPr>
          <a:xfrm>
            <a:off x="731519" y="838200"/>
            <a:ext cx="8481062" cy="12239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000">
                <a:solidFill>
                  <a:srgbClr val="151716"/>
                </a:solidFill>
              </a:defRPr>
            </a:lvl1pPr>
          </a:lstStyle>
          <a:p>
            <a:pPr/>
            <a:r>
              <a:t>I classified the problem into two parts: foundation and visibility</a:t>
            </a:r>
          </a:p>
        </p:txBody>
      </p:sp>
      <p:sp>
        <p:nvSpPr>
          <p:cNvPr id="139" name="Rectangle 2"/>
          <p:cNvSpPr/>
          <p:nvPr/>
        </p:nvSpPr>
        <p:spPr>
          <a:xfrm>
            <a:off x="6094412" y="2400300"/>
            <a:ext cx="12701" cy="3048000"/>
          </a:xfrm>
          <a:prstGeom prst="rect">
            <a:avLst/>
          </a:prstGeom>
          <a:solidFill>
            <a:srgbClr val="CFBEC2"/>
          </a:solidFill>
          <a:ln w="3175">
            <a:solidFill>
              <a:srgbClr val="CFBEC2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40" name="Rectangle 3"/>
          <p:cNvSpPr txBox="1"/>
          <p:nvPr/>
        </p:nvSpPr>
        <p:spPr>
          <a:xfrm>
            <a:off x="731519" y="2571750"/>
            <a:ext cx="42900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6F716E"/>
                </a:solidFill>
              </a:defRPr>
            </a:lvl1pPr>
          </a:lstStyle>
          <a:p>
            <a:pPr/>
            <a:r>
              <a:t>First-order problem</a:t>
            </a:r>
          </a:p>
        </p:txBody>
      </p:sp>
      <p:sp>
        <p:nvSpPr>
          <p:cNvPr id="141" name="Rectangle 4"/>
          <p:cNvSpPr txBox="1"/>
          <p:nvPr/>
        </p:nvSpPr>
        <p:spPr>
          <a:xfrm>
            <a:off x="731519" y="3143250"/>
            <a:ext cx="4480562" cy="10149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300">
                <a:solidFill>
                  <a:srgbClr val="151716"/>
                </a:solidFill>
              </a:defRPr>
            </a:lvl1pPr>
          </a:lstStyle>
          <a:p>
            <a:pPr/>
            <a:r>
              <a:t>How might we organize the work?</a:t>
            </a:r>
          </a:p>
        </p:txBody>
      </p:sp>
      <p:sp>
        <p:nvSpPr>
          <p:cNvPr id="142" name="Rectangle 5"/>
          <p:cNvSpPr txBox="1"/>
          <p:nvPr/>
        </p:nvSpPr>
        <p:spPr>
          <a:xfrm>
            <a:off x="6751319" y="2571750"/>
            <a:ext cx="42900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6F716E"/>
                </a:solidFill>
              </a:defRPr>
            </a:lvl1pPr>
          </a:lstStyle>
          <a:p>
            <a:pPr/>
            <a:r>
              <a:t>Second-order problem</a:t>
            </a:r>
          </a:p>
        </p:txBody>
      </p:sp>
      <p:sp>
        <p:nvSpPr>
          <p:cNvPr id="143" name="Rectangle 6"/>
          <p:cNvSpPr txBox="1"/>
          <p:nvPr/>
        </p:nvSpPr>
        <p:spPr>
          <a:xfrm>
            <a:off x="6751319" y="3143250"/>
            <a:ext cx="4480562" cy="10149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300">
                <a:solidFill>
                  <a:srgbClr val="151716"/>
                </a:solidFill>
              </a:defRPr>
            </a:lvl1pPr>
          </a:lstStyle>
          <a:p>
            <a:pPr/>
            <a:r>
              <a:t>How might we make progress visible?</a:t>
            </a:r>
          </a:p>
        </p:txBody>
      </p:sp>
      <p:sp>
        <p:nvSpPr>
          <p:cNvPr id="144" name="Rectangle 7"/>
          <p:cNvSpPr txBox="1"/>
          <p:nvPr/>
        </p:nvSpPr>
        <p:spPr>
          <a:xfrm>
            <a:off x="731519" y="5829300"/>
            <a:ext cx="8004812" cy="506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151716"/>
                </a:solidFill>
              </a:defRPr>
            </a:lvl1pPr>
          </a:lstStyle>
          <a:p>
            <a:pPr/>
            <a:r>
              <a:t>To make the progress visible, we needed to have a solid foundation to start first. Existing tools were opinionated. We wanted something that worked for all of our teams.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ectangle 11"/>
          <p:cNvSpPr txBox="1"/>
          <p:nvPr/>
        </p:nvSpPr>
        <p:spPr>
          <a:xfrm>
            <a:off x="731519" y="457200"/>
            <a:ext cx="42900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6F716E"/>
                </a:solidFill>
              </a:defRPr>
            </a:lvl1pPr>
          </a:lstStyle>
          <a:p>
            <a:pPr/>
            <a:r>
              <a:t>PRODUCT DIRECTION</a:t>
            </a:r>
          </a:p>
        </p:txBody>
      </p:sp>
      <p:sp>
        <p:nvSpPr>
          <p:cNvPr id="149" name="slide-title"/>
          <p:cNvSpPr txBox="1"/>
          <p:nvPr/>
        </p:nvSpPr>
        <p:spPr>
          <a:xfrm>
            <a:off x="731519" y="838200"/>
            <a:ext cx="8766812" cy="1108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151716"/>
                </a:solidFill>
              </a:defRPr>
            </a:lvl1pPr>
          </a:lstStyle>
          <a:p>
            <a:pPr/>
            <a:r>
              <a:t>I designed the product according to how we worked</a:t>
            </a:r>
          </a:p>
        </p:txBody>
      </p:sp>
      <p:sp>
        <p:nvSpPr>
          <p:cNvPr id="150" name="Rectangle 2"/>
          <p:cNvSpPr txBox="1"/>
          <p:nvPr/>
        </p:nvSpPr>
        <p:spPr>
          <a:xfrm>
            <a:off x="731519" y="2647950"/>
            <a:ext cx="990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B65327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151" name="Rectangle 3"/>
          <p:cNvSpPr txBox="1"/>
          <p:nvPr/>
        </p:nvSpPr>
        <p:spPr>
          <a:xfrm>
            <a:off x="998219" y="2647950"/>
            <a:ext cx="42138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151716"/>
                </a:solidFill>
              </a:defRPr>
            </a:lvl1pPr>
          </a:lstStyle>
          <a:p>
            <a:pPr/>
            <a:r>
              <a:t>A self-contained knowledge base</a:t>
            </a:r>
          </a:p>
        </p:txBody>
      </p:sp>
      <p:sp>
        <p:nvSpPr>
          <p:cNvPr id="152" name="Rectangle 4"/>
          <p:cNvSpPr txBox="1"/>
          <p:nvPr/>
        </p:nvSpPr>
        <p:spPr>
          <a:xfrm>
            <a:off x="731519" y="3200400"/>
            <a:ext cx="990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B65327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153" name="Rectangle 5"/>
          <p:cNvSpPr txBox="1"/>
          <p:nvPr/>
        </p:nvSpPr>
        <p:spPr>
          <a:xfrm>
            <a:off x="998219" y="3200400"/>
            <a:ext cx="42138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151716"/>
                </a:solidFill>
              </a:defRPr>
            </a:lvl1pPr>
          </a:lstStyle>
          <a:p>
            <a:pPr/>
            <a:r>
              <a:t>A multiplayer editor for tasks and comments</a:t>
            </a:r>
          </a:p>
        </p:txBody>
      </p:sp>
      <p:sp>
        <p:nvSpPr>
          <p:cNvPr id="154" name="Rectangle 6"/>
          <p:cNvSpPr txBox="1"/>
          <p:nvPr/>
        </p:nvSpPr>
        <p:spPr>
          <a:xfrm>
            <a:off x="731519" y="3752850"/>
            <a:ext cx="990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B65327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155" name="Rectangle 7"/>
          <p:cNvSpPr txBox="1"/>
          <p:nvPr/>
        </p:nvSpPr>
        <p:spPr>
          <a:xfrm>
            <a:off x="998219" y="3752850"/>
            <a:ext cx="42138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151716"/>
                </a:solidFill>
              </a:defRPr>
            </a:lvl1pPr>
          </a:lstStyle>
          <a:p>
            <a:pPr/>
            <a:r>
              <a:t>A review system modeled on pull requests</a:t>
            </a:r>
          </a:p>
        </p:txBody>
      </p:sp>
      <p:sp>
        <p:nvSpPr>
          <p:cNvPr id="156" name="Rectangle 8"/>
          <p:cNvSpPr txBox="1"/>
          <p:nvPr/>
        </p:nvSpPr>
        <p:spPr>
          <a:xfrm>
            <a:off x="731519" y="4305300"/>
            <a:ext cx="990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B65327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157" name="Rectangle 9"/>
          <p:cNvSpPr txBox="1"/>
          <p:nvPr/>
        </p:nvSpPr>
        <p:spPr>
          <a:xfrm>
            <a:off x="998219" y="4305300"/>
            <a:ext cx="42138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151716"/>
                </a:solidFill>
              </a:defRPr>
            </a:lvl1pPr>
          </a:lstStyle>
          <a:p>
            <a:pPr/>
            <a:r>
              <a:t>A shared hierarchy from groups to subtasks</a:t>
            </a:r>
          </a:p>
        </p:txBody>
      </p:sp>
      <p:pic>
        <p:nvPicPr>
          <p:cNvPr id="158" name="Picture 21" descr="Picture 21"/>
          <p:cNvPicPr>
            <a:picLocks noChangeAspect="1"/>
          </p:cNvPicPr>
          <p:nvPr/>
        </p:nvPicPr>
        <p:blipFill>
          <a:blip r:embed="rId3">
            <a:extLst/>
          </a:blip>
          <a:srcRect l="20934" t="0" r="20934" b="0"/>
          <a:stretch>
            <a:fillRect/>
          </a:stretch>
        </p:blipFill>
        <p:spPr>
          <a:xfrm>
            <a:off x="5905499" y="2076450"/>
            <a:ext cx="5619751" cy="381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39" y="0"/>
                </a:moveTo>
                <a:cubicBezTo>
                  <a:pt x="197" y="0"/>
                  <a:pt x="0" y="290"/>
                  <a:pt x="0" y="648"/>
                </a:cubicBezTo>
                <a:lnTo>
                  <a:pt x="0" y="20952"/>
                </a:lnTo>
                <a:cubicBezTo>
                  <a:pt x="0" y="21310"/>
                  <a:pt x="197" y="21600"/>
                  <a:pt x="439" y="21600"/>
                </a:cubicBezTo>
                <a:lnTo>
                  <a:pt x="21161" y="21600"/>
                </a:lnTo>
                <a:cubicBezTo>
                  <a:pt x="21403" y="21600"/>
                  <a:pt x="21600" y="21310"/>
                  <a:pt x="21600" y="20952"/>
                </a:cubicBezTo>
                <a:lnTo>
                  <a:pt x="21600" y="648"/>
                </a:lnTo>
                <a:cubicBezTo>
                  <a:pt x="21600" y="290"/>
                  <a:pt x="21403" y="0"/>
                  <a:pt x="21161" y="0"/>
                </a:cubicBezTo>
                <a:lnTo>
                  <a:pt x="439" y="0"/>
                </a:lnTo>
                <a:close/>
              </a:path>
            </a:pathLst>
          </a:cu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Rectangle 16"/>
          <p:cNvSpPr txBox="1"/>
          <p:nvPr/>
        </p:nvSpPr>
        <p:spPr>
          <a:xfrm>
            <a:off x="731519" y="457200"/>
            <a:ext cx="42900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6F716E"/>
                </a:solidFill>
              </a:defRPr>
            </a:lvl1pPr>
          </a:lstStyle>
          <a:p>
            <a:pPr/>
            <a:r>
              <a:t>BUILD TIMELINE</a:t>
            </a:r>
          </a:p>
        </p:txBody>
      </p:sp>
      <p:sp>
        <p:nvSpPr>
          <p:cNvPr id="163" name="slide-title"/>
          <p:cNvSpPr txBox="1"/>
          <p:nvPr/>
        </p:nvSpPr>
        <p:spPr>
          <a:xfrm>
            <a:off x="731518" y="838200"/>
            <a:ext cx="10230286" cy="1178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800">
                <a:solidFill>
                  <a:srgbClr val="151716"/>
                </a:solidFill>
              </a:defRPr>
            </a:lvl1pPr>
          </a:lstStyle>
          <a:p>
            <a:pPr/>
            <a:r>
              <a:t>I shipped a barebones MVP in one week and spent 8 months turning it into a 0 to 100 platform</a:t>
            </a:r>
          </a:p>
        </p:txBody>
      </p:sp>
      <p:sp>
        <p:nvSpPr>
          <p:cNvPr id="164" name="Rectangle 3"/>
          <p:cNvSpPr/>
          <p:nvPr/>
        </p:nvSpPr>
        <p:spPr>
          <a:xfrm>
            <a:off x="1524000" y="4095750"/>
            <a:ext cx="9144000" cy="38100"/>
          </a:xfrm>
          <a:prstGeom prst="rect">
            <a:avLst/>
          </a:prstGeom>
          <a:solidFill>
            <a:srgbClr val="DDE2DF"/>
          </a:solidFill>
          <a:ln w="3175">
            <a:solidFill>
              <a:srgbClr val="DDE2D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65" name="Oval 4"/>
          <p:cNvSpPr/>
          <p:nvPr/>
        </p:nvSpPr>
        <p:spPr>
          <a:xfrm>
            <a:off x="1695450" y="4000500"/>
            <a:ext cx="228600" cy="228600"/>
          </a:xfrm>
          <a:prstGeom prst="ellipse">
            <a:avLst/>
          </a:prstGeom>
          <a:solidFill>
            <a:srgbClr val="F1DFE4"/>
          </a:solidFill>
          <a:ln w="3175">
            <a:solidFill>
              <a:srgbClr val="F1DFE4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66" name="Rectangle 5"/>
          <p:cNvSpPr txBox="1"/>
          <p:nvPr/>
        </p:nvSpPr>
        <p:spPr>
          <a:xfrm>
            <a:off x="807719" y="3333750"/>
            <a:ext cx="200406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6F716E"/>
                </a:solidFill>
              </a:defRPr>
            </a:lvl1pPr>
          </a:lstStyle>
          <a:p>
            <a:pPr/>
            <a:r>
              <a:t>Week 1</a:t>
            </a:r>
          </a:p>
        </p:txBody>
      </p:sp>
      <p:sp>
        <p:nvSpPr>
          <p:cNvPr id="167" name="Rectangle 6"/>
          <p:cNvSpPr txBox="1"/>
          <p:nvPr/>
        </p:nvSpPr>
        <p:spPr>
          <a:xfrm>
            <a:off x="617219" y="4533900"/>
            <a:ext cx="2385062" cy="3627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2100">
                <a:solidFill>
                  <a:srgbClr val="151716"/>
                </a:solidFill>
              </a:defRPr>
            </a:lvl1pPr>
          </a:lstStyle>
          <a:p>
            <a:pPr/>
            <a:r>
              <a:t>MVP shipped</a:t>
            </a:r>
          </a:p>
        </p:txBody>
      </p:sp>
      <p:sp>
        <p:nvSpPr>
          <p:cNvPr id="168" name="Rectangle 7"/>
          <p:cNvSpPr txBox="1"/>
          <p:nvPr/>
        </p:nvSpPr>
        <p:spPr>
          <a:xfrm>
            <a:off x="617219" y="5257800"/>
            <a:ext cx="2873610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6F716E"/>
                </a:solidFill>
              </a:defRPr>
            </a:lvl1pPr>
          </a:lstStyle>
          <a:p>
            <a:pPr/>
            <a:r>
              <a:t>Shipped fast, broke things, learned a lot</a:t>
            </a:r>
          </a:p>
        </p:txBody>
      </p:sp>
      <p:sp>
        <p:nvSpPr>
          <p:cNvPr id="169" name="Oval 8"/>
          <p:cNvSpPr/>
          <p:nvPr/>
        </p:nvSpPr>
        <p:spPr>
          <a:xfrm>
            <a:off x="5981700" y="4000500"/>
            <a:ext cx="228600" cy="228600"/>
          </a:xfrm>
          <a:prstGeom prst="ellipse">
            <a:avLst/>
          </a:prstGeom>
          <a:solidFill>
            <a:srgbClr val="F1DFE4"/>
          </a:solidFill>
          <a:ln w="3175">
            <a:solidFill>
              <a:srgbClr val="F1DFE4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70" name="Rectangle 9"/>
          <p:cNvSpPr txBox="1"/>
          <p:nvPr/>
        </p:nvSpPr>
        <p:spPr>
          <a:xfrm>
            <a:off x="5093969" y="3333750"/>
            <a:ext cx="200406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6F716E"/>
                </a:solidFill>
              </a:defRPr>
            </a:lvl1pPr>
          </a:lstStyle>
          <a:p>
            <a:pPr/>
            <a:r>
              <a:t>Months 2–4</a:t>
            </a:r>
          </a:p>
        </p:txBody>
      </p:sp>
      <p:sp>
        <p:nvSpPr>
          <p:cNvPr id="171" name="Rectangle 10"/>
          <p:cNvSpPr txBox="1"/>
          <p:nvPr/>
        </p:nvSpPr>
        <p:spPr>
          <a:xfrm>
            <a:off x="4903469" y="4533900"/>
            <a:ext cx="2385062" cy="3627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2100">
                <a:solidFill>
                  <a:srgbClr val="151716"/>
                </a:solidFill>
              </a:defRPr>
            </a:lvl1pPr>
          </a:lstStyle>
          <a:p>
            <a:pPr/>
            <a:r>
              <a:t>Learned and rebuilt</a:t>
            </a:r>
          </a:p>
        </p:txBody>
      </p:sp>
      <p:sp>
        <p:nvSpPr>
          <p:cNvPr id="172" name="Rectangle 11"/>
          <p:cNvSpPr txBox="1"/>
          <p:nvPr/>
        </p:nvSpPr>
        <p:spPr>
          <a:xfrm>
            <a:off x="4760594" y="5257800"/>
            <a:ext cx="2670812" cy="438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6F716E"/>
                </a:solidFill>
              </a:defRPr>
            </a:lvl1pPr>
          </a:lstStyle>
          <a:p>
            <a:pPr/>
            <a:r>
              <a:t>Feedback tools like Userback, and analytics informed a few decisions</a:t>
            </a:r>
          </a:p>
        </p:txBody>
      </p:sp>
      <p:sp>
        <p:nvSpPr>
          <p:cNvPr id="173" name="Oval 12"/>
          <p:cNvSpPr/>
          <p:nvPr/>
        </p:nvSpPr>
        <p:spPr>
          <a:xfrm>
            <a:off x="10267950" y="4000500"/>
            <a:ext cx="228600" cy="228600"/>
          </a:xfrm>
          <a:prstGeom prst="ellipse">
            <a:avLst/>
          </a:prstGeom>
          <a:solidFill>
            <a:srgbClr val="061D16"/>
          </a:solidFill>
          <a:ln w="3175">
            <a:solidFill>
              <a:srgbClr val="061D16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74" name="Rectangle 13"/>
          <p:cNvSpPr txBox="1"/>
          <p:nvPr/>
        </p:nvSpPr>
        <p:spPr>
          <a:xfrm>
            <a:off x="9380219" y="3333750"/>
            <a:ext cx="200406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6F716E"/>
                </a:solidFill>
              </a:defRPr>
            </a:lvl1pPr>
          </a:lstStyle>
          <a:p>
            <a:pPr/>
            <a:r>
              <a:t>Month 8</a:t>
            </a:r>
          </a:p>
        </p:txBody>
      </p:sp>
      <p:sp>
        <p:nvSpPr>
          <p:cNvPr id="175" name="Rectangle 14"/>
          <p:cNvSpPr txBox="1"/>
          <p:nvPr/>
        </p:nvSpPr>
        <p:spPr>
          <a:xfrm>
            <a:off x="9189719" y="4533900"/>
            <a:ext cx="2385062" cy="3627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2100">
                <a:solidFill>
                  <a:srgbClr val="151716"/>
                </a:solidFill>
              </a:defRPr>
            </a:lvl1pPr>
          </a:lstStyle>
          <a:p>
            <a:pPr/>
            <a:r>
              <a:t>Platform shipped</a:t>
            </a:r>
          </a:p>
        </p:txBody>
      </p:sp>
      <p:sp>
        <p:nvSpPr>
          <p:cNvPr id="176" name="Rectangle 15"/>
          <p:cNvSpPr txBox="1"/>
          <p:nvPr/>
        </p:nvSpPr>
        <p:spPr>
          <a:xfrm>
            <a:off x="9046844" y="5257800"/>
            <a:ext cx="267081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6F716E"/>
                </a:solidFill>
              </a:defRPr>
            </a:lvl1pPr>
          </a:lstStyle>
          <a:p>
            <a:pPr/>
            <a:r>
              <a:t>Planning, review, and docs connected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what-shipped-eyebrow"/>
          <p:cNvSpPr txBox="1"/>
          <p:nvPr/>
        </p:nvSpPr>
        <p:spPr>
          <a:xfrm>
            <a:off x="731519" y="457200"/>
            <a:ext cx="42900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6F716E"/>
                </a:solidFill>
              </a:defRPr>
            </a:lvl1pPr>
          </a:lstStyle>
          <a:p>
            <a:pPr/>
            <a:r>
              <a:t>WHAT SHIPPED</a:t>
            </a:r>
          </a:p>
        </p:txBody>
      </p:sp>
      <p:sp>
        <p:nvSpPr>
          <p:cNvPr id="181" name="screen-title"/>
          <p:cNvSpPr txBox="1"/>
          <p:nvPr/>
        </p:nvSpPr>
        <p:spPr>
          <a:xfrm>
            <a:off x="731519" y="838200"/>
            <a:ext cx="9528812" cy="539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500">
                <a:solidFill>
                  <a:srgbClr val="151716"/>
                </a:solidFill>
              </a:defRPr>
            </a:lvl1pPr>
          </a:lstStyle>
          <a:p>
            <a:pPr/>
            <a:r>
              <a:t>Task hub</a:t>
            </a:r>
          </a:p>
        </p:txBody>
      </p:sp>
      <p:pic>
        <p:nvPicPr>
          <p:cNvPr id="182" name="image9.png" descr="image9.png"/>
          <p:cNvPicPr>
            <a:picLocks noChangeAspect="1"/>
          </p:cNvPicPr>
          <p:nvPr/>
        </p:nvPicPr>
        <p:blipFill>
          <a:blip r:embed="rId3">
            <a:extLst/>
          </a:blip>
          <a:srcRect l="0" t="1250" r="0" b="1249"/>
          <a:stretch>
            <a:fillRect/>
          </a:stretch>
        </p:blipFill>
        <p:spPr>
          <a:xfrm>
            <a:off x="1524000" y="1571625"/>
            <a:ext cx="9144000" cy="5143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70" y="0"/>
                </a:moveTo>
                <a:cubicBezTo>
                  <a:pt x="121" y="0"/>
                  <a:pt x="0" y="215"/>
                  <a:pt x="0" y="480"/>
                </a:cubicBezTo>
                <a:lnTo>
                  <a:pt x="0" y="21120"/>
                </a:lnTo>
                <a:cubicBezTo>
                  <a:pt x="0" y="21385"/>
                  <a:pt x="121" y="21600"/>
                  <a:pt x="270" y="21600"/>
                </a:cubicBezTo>
                <a:lnTo>
                  <a:pt x="21330" y="21600"/>
                </a:lnTo>
                <a:cubicBezTo>
                  <a:pt x="21479" y="21600"/>
                  <a:pt x="21600" y="21385"/>
                  <a:pt x="21600" y="21120"/>
                </a:cubicBezTo>
                <a:lnTo>
                  <a:pt x="21600" y="480"/>
                </a:lnTo>
                <a:cubicBezTo>
                  <a:pt x="21600" y="215"/>
                  <a:pt x="21479" y="0"/>
                  <a:pt x="21330" y="0"/>
                </a:cubicBezTo>
                <a:lnTo>
                  <a:pt x="270" y="0"/>
                </a:lnTo>
                <a:close/>
              </a:path>
            </a:pathLst>
          </a:cu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what-shipped-eyebrow"/>
          <p:cNvSpPr txBox="1"/>
          <p:nvPr/>
        </p:nvSpPr>
        <p:spPr>
          <a:xfrm>
            <a:off x="731519" y="457200"/>
            <a:ext cx="42900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6F716E"/>
                </a:solidFill>
              </a:defRPr>
            </a:lvl1pPr>
          </a:lstStyle>
          <a:p>
            <a:pPr/>
            <a:r>
              <a:t>WHAT SHIPPED</a:t>
            </a:r>
          </a:p>
        </p:txBody>
      </p:sp>
      <p:sp>
        <p:nvSpPr>
          <p:cNvPr id="187" name="screen-title"/>
          <p:cNvSpPr txBox="1"/>
          <p:nvPr/>
        </p:nvSpPr>
        <p:spPr>
          <a:xfrm>
            <a:off x="731519" y="838200"/>
            <a:ext cx="9528812" cy="539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500">
                <a:solidFill>
                  <a:srgbClr val="151716"/>
                </a:solidFill>
              </a:defRPr>
            </a:lvl1pPr>
          </a:lstStyle>
          <a:p>
            <a:pPr/>
            <a:r>
              <a:t>Review hub</a:t>
            </a:r>
          </a:p>
        </p:txBody>
      </p:sp>
      <p:pic>
        <p:nvPicPr>
          <p:cNvPr id="188" name="image10.png" descr="image10.png"/>
          <p:cNvPicPr>
            <a:picLocks noChangeAspect="1"/>
          </p:cNvPicPr>
          <p:nvPr/>
        </p:nvPicPr>
        <p:blipFill>
          <a:blip r:embed="rId3">
            <a:extLst/>
          </a:blip>
          <a:srcRect l="0" t="1250" r="0" b="1249"/>
          <a:stretch>
            <a:fillRect/>
          </a:stretch>
        </p:blipFill>
        <p:spPr>
          <a:xfrm>
            <a:off x="1524000" y="1571625"/>
            <a:ext cx="9144000" cy="5143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70" y="0"/>
                </a:moveTo>
                <a:cubicBezTo>
                  <a:pt x="121" y="0"/>
                  <a:pt x="0" y="215"/>
                  <a:pt x="0" y="480"/>
                </a:cubicBezTo>
                <a:lnTo>
                  <a:pt x="0" y="21120"/>
                </a:lnTo>
                <a:cubicBezTo>
                  <a:pt x="0" y="21385"/>
                  <a:pt x="121" y="21600"/>
                  <a:pt x="270" y="21600"/>
                </a:cubicBezTo>
                <a:lnTo>
                  <a:pt x="21330" y="21600"/>
                </a:lnTo>
                <a:cubicBezTo>
                  <a:pt x="21479" y="21600"/>
                  <a:pt x="21600" y="21385"/>
                  <a:pt x="21600" y="21120"/>
                </a:cubicBezTo>
                <a:lnTo>
                  <a:pt x="21600" y="480"/>
                </a:lnTo>
                <a:cubicBezTo>
                  <a:pt x="21600" y="215"/>
                  <a:pt x="21479" y="0"/>
                  <a:pt x="21330" y="0"/>
                </a:cubicBezTo>
                <a:lnTo>
                  <a:pt x="270" y="0"/>
                </a:lnTo>
                <a:close/>
              </a:path>
            </a:pathLst>
          </a:cu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what-shipped-eyebrow"/>
          <p:cNvSpPr txBox="1"/>
          <p:nvPr/>
        </p:nvSpPr>
        <p:spPr>
          <a:xfrm>
            <a:off x="731519" y="457200"/>
            <a:ext cx="42900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6F716E"/>
                </a:solidFill>
              </a:defRPr>
            </a:lvl1pPr>
          </a:lstStyle>
          <a:p>
            <a:pPr/>
            <a:r>
              <a:t>WHAT SHIPPED</a:t>
            </a:r>
          </a:p>
        </p:txBody>
      </p:sp>
      <p:sp>
        <p:nvSpPr>
          <p:cNvPr id="193" name="screen-title"/>
          <p:cNvSpPr txBox="1"/>
          <p:nvPr/>
        </p:nvSpPr>
        <p:spPr>
          <a:xfrm>
            <a:off x="731519" y="838200"/>
            <a:ext cx="9528812" cy="539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500">
                <a:solidFill>
                  <a:srgbClr val="151716"/>
                </a:solidFill>
              </a:defRPr>
            </a:lvl1pPr>
          </a:lstStyle>
          <a:p>
            <a:pPr/>
            <a:r>
              <a:t>Projects</a:t>
            </a:r>
          </a:p>
        </p:txBody>
      </p:sp>
      <p:pic>
        <p:nvPicPr>
          <p:cNvPr id="194" name="image11.png" descr="image11.png"/>
          <p:cNvPicPr>
            <a:picLocks noChangeAspect="1"/>
          </p:cNvPicPr>
          <p:nvPr/>
        </p:nvPicPr>
        <p:blipFill>
          <a:blip r:embed="rId3">
            <a:extLst/>
          </a:blip>
          <a:srcRect l="0" t="1250" r="0" b="1249"/>
          <a:stretch>
            <a:fillRect/>
          </a:stretch>
        </p:blipFill>
        <p:spPr>
          <a:xfrm>
            <a:off x="1524000" y="1571625"/>
            <a:ext cx="9144000" cy="5143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70" y="0"/>
                </a:moveTo>
                <a:cubicBezTo>
                  <a:pt x="121" y="0"/>
                  <a:pt x="0" y="215"/>
                  <a:pt x="0" y="480"/>
                </a:cubicBezTo>
                <a:lnTo>
                  <a:pt x="0" y="21120"/>
                </a:lnTo>
                <a:cubicBezTo>
                  <a:pt x="0" y="21385"/>
                  <a:pt x="121" y="21600"/>
                  <a:pt x="270" y="21600"/>
                </a:cubicBezTo>
                <a:lnTo>
                  <a:pt x="21330" y="21600"/>
                </a:lnTo>
                <a:cubicBezTo>
                  <a:pt x="21479" y="21600"/>
                  <a:pt x="21600" y="21385"/>
                  <a:pt x="21600" y="21120"/>
                </a:cubicBezTo>
                <a:lnTo>
                  <a:pt x="21600" y="480"/>
                </a:lnTo>
                <a:cubicBezTo>
                  <a:pt x="21600" y="215"/>
                  <a:pt x="21479" y="0"/>
                  <a:pt x="21330" y="0"/>
                </a:cubicBezTo>
                <a:lnTo>
                  <a:pt x="270" y="0"/>
                </a:lnTo>
                <a:close/>
              </a:path>
            </a:pathLst>
          </a:cu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what-shipped-eyebrow"/>
          <p:cNvSpPr txBox="1"/>
          <p:nvPr/>
        </p:nvSpPr>
        <p:spPr>
          <a:xfrm>
            <a:off x="731519" y="457200"/>
            <a:ext cx="42900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6F716E"/>
                </a:solidFill>
              </a:defRPr>
            </a:lvl1pPr>
          </a:lstStyle>
          <a:p>
            <a:pPr/>
            <a:r>
              <a:t>WHAT SHIPPED</a:t>
            </a:r>
          </a:p>
        </p:txBody>
      </p:sp>
      <p:sp>
        <p:nvSpPr>
          <p:cNvPr id="199" name="screen-title"/>
          <p:cNvSpPr txBox="1"/>
          <p:nvPr/>
        </p:nvSpPr>
        <p:spPr>
          <a:xfrm>
            <a:off x="731519" y="838200"/>
            <a:ext cx="9528812" cy="539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500">
                <a:solidFill>
                  <a:srgbClr val="151716"/>
                </a:solidFill>
              </a:defRPr>
            </a:lvl1pPr>
          </a:lstStyle>
          <a:p>
            <a:pPr/>
            <a:r>
              <a:t>Document editor</a:t>
            </a:r>
          </a:p>
        </p:txBody>
      </p:sp>
      <p:pic>
        <p:nvPicPr>
          <p:cNvPr id="200" name="image12.png" descr="image12.png"/>
          <p:cNvPicPr>
            <a:picLocks noChangeAspect="1"/>
          </p:cNvPicPr>
          <p:nvPr/>
        </p:nvPicPr>
        <p:blipFill>
          <a:blip r:embed="rId3">
            <a:extLst/>
          </a:blip>
          <a:srcRect l="0" t="1250" r="0" b="1249"/>
          <a:stretch>
            <a:fillRect/>
          </a:stretch>
        </p:blipFill>
        <p:spPr>
          <a:xfrm>
            <a:off x="1524000" y="1571625"/>
            <a:ext cx="9144000" cy="5143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70" y="0"/>
                </a:moveTo>
                <a:cubicBezTo>
                  <a:pt x="121" y="0"/>
                  <a:pt x="0" y="215"/>
                  <a:pt x="0" y="480"/>
                </a:cubicBezTo>
                <a:lnTo>
                  <a:pt x="0" y="21120"/>
                </a:lnTo>
                <a:cubicBezTo>
                  <a:pt x="0" y="21385"/>
                  <a:pt x="121" y="21600"/>
                  <a:pt x="270" y="21600"/>
                </a:cubicBezTo>
                <a:lnTo>
                  <a:pt x="21330" y="21600"/>
                </a:lnTo>
                <a:cubicBezTo>
                  <a:pt x="21479" y="21600"/>
                  <a:pt x="21600" y="21385"/>
                  <a:pt x="21600" y="21120"/>
                </a:cubicBezTo>
                <a:lnTo>
                  <a:pt x="21600" y="480"/>
                </a:lnTo>
                <a:cubicBezTo>
                  <a:pt x="21600" y="215"/>
                  <a:pt x="21479" y="0"/>
                  <a:pt x="21330" y="0"/>
                </a:cubicBezTo>
                <a:lnTo>
                  <a:pt x="270" y="0"/>
                </a:lnTo>
                <a:close/>
              </a:path>
            </a:pathLst>
          </a:cu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1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Rectangle 6"/>
          <p:cNvSpPr txBox="1"/>
          <p:nvPr/>
        </p:nvSpPr>
        <p:spPr>
          <a:xfrm>
            <a:off x="731519" y="457200"/>
            <a:ext cx="42900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B9CBB8"/>
                </a:solidFill>
              </a:defRPr>
            </a:lvl1pPr>
          </a:lstStyle>
          <a:p>
            <a:pPr/>
            <a:r>
              <a:t>IMPACT</a:t>
            </a:r>
          </a:p>
        </p:txBody>
      </p:sp>
      <p:sp>
        <p:nvSpPr>
          <p:cNvPr id="205" name="Rectangle 1"/>
          <p:cNvSpPr txBox="1"/>
          <p:nvPr/>
        </p:nvSpPr>
        <p:spPr>
          <a:xfrm>
            <a:off x="731520" y="1676400"/>
            <a:ext cx="4545874" cy="17096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5700">
                <a:solidFill>
                  <a:srgbClr val="F7F8F7"/>
                </a:solidFill>
              </a:defRPr>
            </a:lvl1pPr>
          </a:lstStyle>
          <a:p>
            <a:pPr/>
            <a:r>
              <a:t>$100k deal closed</a:t>
            </a:r>
          </a:p>
        </p:txBody>
      </p:sp>
      <p:sp>
        <p:nvSpPr>
          <p:cNvPr id="206" name="Rectangle 3"/>
          <p:cNvSpPr txBox="1"/>
          <p:nvPr/>
        </p:nvSpPr>
        <p:spPr>
          <a:xfrm>
            <a:off x="7284719" y="2286000"/>
            <a:ext cx="3813812" cy="622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900">
                <a:solidFill>
                  <a:srgbClr val="F7F8F7"/>
                </a:solidFill>
              </a:defRPr>
            </a:lvl1pPr>
          </a:lstStyle>
          <a:p>
            <a:pPr/>
            <a:r>
              <a:t>Workflows helped Educative close its biggest customer yet.</a:t>
            </a:r>
          </a:p>
        </p:txBody>
      </p:sp>
      <p:sp>
        <p:nvSpPr>
          <p:cNvPr id="207" name="Rectangle 4"/>
          <p:cNvSpPr/>
          <p:nvPr/>
        </p:nvSpPr>
        <p:spPr>
          <a:xfrm>
            <a:off x="685800" y="5713412"/>
            <a:ext cx="10820400" cy="12701"/>
          </a:xfrm>
          <a:prstGeom prst="rect">
            <a:avLst/>
          </a:prstGeom>
          <a:solidFill>
            <a:srgbClr val="28483E"/>
          </a:solidFill>
          <a:ln w="3175">
            <a:solidFill>
              <a:srgbClr val="28483E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08" name="Rectangle 5"/>
          <p:cNvSpPr txBox="1"/>
          <p:nvPr/>
        </p:nvSpPr>
        <p:spPr>
          <a:xfrm>
            <a:off x="731519" y="5962650"/>
            <a:ext cx="71475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BFD0C8"/>
                </a:solidFill>
              </a:defRPr>
            </a:lvl1pPr>
          </a:lstStyle>
          <a:p>
            <a:pPr/>
            <a:r>
              <a:t>The outcome tied the product directly to enterprise growth.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1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Picture 5" descr="Picture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13707" y="2705100"/>
            <a:ext cx="10707625" cy="4152900"/>
          </a:xfrm>
          <a:prstGeom prst="rect">
            <a:avLst/>
          </a:prstGeom>
          <a:ln w="12700">
            <a:miter lim="400000"/>
          </a:ln>
        </p:spPr>
      </p:pic>
      <p:sp>
        <p:nvSpPr>
          <p:cNvPr id="213" name="Rectangle 4"/>
          <p:cNvSpPr txBox="1"/>
          <p:nvPr/>
        </p:nvSpPr>
        <p:spPr>
          <a:xfrm>
            <a:off x="731519" y="457200"/>
            <a:ext cx="42900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D6B09C"/>
                </a:solidFill>
              </a:defRPr>
            </a:lvl1pPr>
          </a:lstStyle>
          <a:p>
            <a:pPr/>
            <a:r>
              <a:t>CAPSTONE MATCHMAKER</a:t>
            </a:r>
          </a:p>
        </p:txBody>
      </p:sp>
      <p:sp>
        <p:nvSpPr>
          <p:cNvPr id="214" name="slide-title"/>
          <p:cNvSpPr txBox="1"/>
          <p:nvPr/>
        </p:nvSpPr>
        <p:spPr>
          <a:xfrm>
            <a:off x="731519" y="838200"/>
            <a:ext cx="10195562" cy="1108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7F8F7"/>
                </a:solidFill>
              </a:defRPr>
            </a:lvl1pPr>
          </a:lstStyle>
          <a:p>
            <a:pPr/>
            <a:r>
              <a:t>A FERPA-compliant recruitment platform, shipped in under two weeks.</a:t>
            </a:r>
          </a:p>
        </p:txBody>
      </p:sp>
      <p:sp>
        <p:nvSpPr>
          <p:cNvPr id="215" name="Rectangle 2"/>
          <p:cNvSpPr txBox="1"/>
          <p:nvPr/>
        </p:nvSpPr>
        <p:spPr>
          <a:xfrm>
            <a:off x="731519" y="2095500"/>
            <a:ext cx="819531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D5E1DB"/>
                </a:solidFill>
              </a:defRPr>
            </a:lvl1pPr>
          </a:lstStyle>
          <a:p>
            <a:pPr/>
            <a:r>
              <a:t>I designed and built the SaaS product end to end with Next.js, PostgreSQL, and AWS EC2.</a:t>
            </a:r>
          </a:p>
        </p:txBody>
      </p:sp>
      <p:pic>
        <p:nvPicPr>
          <p:cNvPr id="216" name="Picture 3" descr="Picture 3"/>
          <p:cNvPicPr>
            <a:picLocks noChangeAspect="1"/>
          </p:cNvPicPr>
          <p:nvPr/>
        </p:nvPicPr>
        <p:blipFill>
          <a:blip r:embed="rId4">
            <a:extLst/>
          </a:blip>
          <a:srcRect l="0" t="0" r="0" b="4"/>
          <a:stretch>
            <a:fillRect/>
          </a:stretch>
        </p:blipFill>
        <p:spPr>
          <a:xfrm>
            <a:off x="943927" y="2923222"/>
            <a:ext cx="10232043" cy="39346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7" y="0"/>
                </a:moveTo>
                <a:cubicBezTo>
                  <a:pt x="93" y="0"/>
                  <a:pt x="0" y="241"/>
                  <a:pt x="0" y="538"/>
                </a:cubicBezTo>
                <a:lnTo>
                  <a:pt x="0" y="21062"/>
                </a:lnTo>
                <a:cubicBezTo>
                  <a:pt x="0" y="21359"/>
                  <a:pt x="93" y="21600"/>
                  <a:pt x="207" y="21600"/>
                </a:cubicBezTo>
                <a:lnTo>
                  <a:pt x="21393" y="21600"/>
                </a:lnTo>
                <a:cubicBezTo>
                  <a:pt x="21507" y="21600"/>
                  <a:pt x="21600" y="21359"/>
                  <a:pt x="21600" y="21062"/>
                </a:cubicBezTo>
                <a:lnTo>
                  <a:pt x="21600" y="538"/>
                </a:lnTo>
                <a:cubicBezTo>
                  <a:pt x="21600" y="241"/>
                  <a:pt x="21507" y="0"/>
                  <a:pt x="21393" y="0"/>
                </a:cubicBezTo>
                <a:lnTo>
                  <a:pt x="207" y="0"/>
                </a:lnTo>
                <a:close/>
              </a:path>
            </a:pathLst>
          </a:cu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Picture 21" descr="Picture 2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3393185"/>
            <a:ext cx="5779104" cy="3464815"/>
          </a:xfrm>
          <a:prstGeom prst="rect">
            <a:avLst/>
          </a:prstGeom>
          <a:ln w="12700">
            <a:miter lim="400000"/>
          </a:ln>
        </p:spPr>
      </p:pic>
      <p:sp>
        <p:nvSpPr>
          <p:cNvPr id="221" name="Rectangle 14"/>
          <p:cNvSpPr txBox="1"/>
          <p:nvPr/>
        </p:nvSpPr>
        <p:spPr>
          <a:xfrm>
            <a:off x="731519" y="457200"/>
            <a:ext cx="42900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6F716E"/>
                </a:solidFill>
              </a:defRPr>
            </a:lvl1pPr>
          </a:lstStyle>
          <a:p>
            <a:pPr/>
            <a:r>
              <a:t>BUILD APPROACH</a:t>
            </a:r>
          </a:p>
        </p:txBody>
      </p:sp>
      <p:sp>
        <p:nvSpPr>
          <p:cNvPr id="222" name="slide-title"/>
          <p:cNvSpPr txBox="1"/>
          <p:nvPr/>
        </p:nvSpPr>
        <p:spPr>
          <a:xfrm>
            <a:off x="731519" y="838200"/>
            <a:ext cx="4861562" cy="1201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900">
                <a:solidFill>
                  <a:srgbClr val="151716"/>
                </a:solidFill>
              </a:defRPr>
            </a:lvl1pPr>
          </a:lstStyle>
          <a:p>
            <a:pPr/>
            <a:r>
              <a:t>Code-first kept the build focused.</a:t>
            </a:r>
          </a:p>
        </p:txBody>
      </p:sp>
      <p:sp>
        <p:nvSpPr>
          <p:cNvPr id="223" name="Rectangle 2"/>
          <p:cNvSpPr txBox="1"/>
          <p:nvPr/>
        </p:nvSpPr>
        <p:spPr>
          <a:xfrm>
            <a:off x="731519" y="2212083"/>
            <a:ext cx="4861562" cy="735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151716"/>
                </a:solidFill>
              </a:defRPr>
            </a:lvl1pPr>
          </a:lstStyle>
          <a:p>
            <a:pPr/>
            <a:r>
              <a:t>I moved from design intent to working components with Radix UI and shadcn/ui, using AI-assisted development to accelerate implementation.</a:t>
            </a:r>
          </a:p>
        </p:txBody>
      </p:sp>
      <p:sp>
        <p:nvSpPr>
          <p:cNvPr id="224" name="Rectangle 3"/>
          <p:cNvSpPr txBox="1"/>
          <p:nvPr/>
        </p:nvSpPr>
        <p:spPr>
          <a:xfrm>
            <a:off x="7854423" y="838200"/>
            <a:ext cx="276606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6F716E"/>
                </a:solidFill>
              </a:defRPr>
            </a:lvl1pPr>
          </a:lstStyle>
          <a:p>
            <a:pPr/>
            <a:r>
              <a:t>I owned the design end to end including</a:t>
            </a:r>
          </a:p>
        </p:txBody>
      </p:sp>
      <p:sp>
        <p:nvSpPr>
          <p:cNvPr id="225" name="Rectangle 4"/>
          <p:cNvSpPr txBox="1"/>
          <p:nvPr/>
        </p:nvSpPr>
        <p:spPr>
          <a:xfrm>
            <a:off x="7854423" y="1295400"/>
            <a:ext cx="990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B65327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226" name="Rectangle 5"/>
          <p:cNvSpPr txBox="1"/>
          <p:nvPr/>
        </p:nvSpPr>
        <p:spPr>
          <a:xfrm>
            <a:off x="8121123" y="1295400"/>
            <a:ext cx="373761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151716"/>
                </a:solidFill>
              </a:defRPr>
            </a:lvl1pPr>
          </a:lstStyle>
          <a:p>
            <a:pPr/>
            <a:r>
              <a:t>Product decisions</a:t>
            </a:r>
          </a:p>
        </p:txBody>
      </p:sp>
      <p:sp>
        <p:nvSpPr>
          <p:cNvPr id="227" name="Rectangle 6"/>
          <p:cNvSpPr txBox="1"/>
          <p:nvPr/>
        </p:nvSpPr>
        <p:spPr>
          <a:xfrm>
            <a:off x="7854423" y="1695450"/>
            <a:ext cx="990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B65327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228" name="Rectangle 7"/>
          <p:cNvSpPr txBox="1"/>
          <p:nvPr/>
        </p:nvSpPr>
        <p:spPr>
          <a:xfrm>
            <a:off x="8121123" y="1695450"/>
            <a:ext cx="373761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151716"/>
                </a:solidFill>
              </a:defRPr>
            </a:lvl1pPr>
          </a:lstStyle>
          <a:p>
            <a:pPr/>
            <a:r>
              <a:t>Information architecture</a:t>
            </a:r>
          </a:p>
        </p:txBody>
      </p:sp>
      <p:sp>
        <p:nvSpPr>
          <p:cNvPr id="229" name="Rectangle 8"/>
          <p:cNvSpPr txBox="1"/>
          <p:nvPr/>
        </p:nvSpPr>
        <p:spPr>
          <a:xfrm>
            <a:off x="7854423" y="2095500"/>
            <a:ext cx="990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B65327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230" name="Rectangle 9"/>
          <p:cNvSpPr txBox="1"/>
          <p:nvPr/>
        </p:nvSpPr>
        <p:spPr>
          <a:xfrm>
            <a:off x="8121123" y="2095500"/>
            <a:ext cx="373761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151716"/>
                </a:solidFill>
              </a:defRPr>
            </a:lvl1pPr>
          </a:lstStyle>
          <a:p>
            <a:pPr/>
            <a:r>
              <a:t>Interaction model</a:t>
            </a:r>
          </a:p>
        </p:txBody>
      </p:sp>
      <p:sp>
        <p:nvSpPr>
          <p:cNvPr id="231" name="Rectangle 10"/>
          <p:cNvSpPr txBox="1"/>
          <p:nvPr/>
        </p:nvSpPr>
        <p:spPr>
          <a:xfrm>
            <a:off x="7854423" y="2495550"/>
            <a:ext cx="990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B65327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232" name="Rectangle 11"/>
          <p:cNvSpPr txBox="1"/>
          <p:nvPr/>
        </p:nvSpPr>
        <p:spPr>
          <a:xfrm>
            <a:off x="8121123" y="2495550"/>
            <a:ext cx="373761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151716"/>
                </a:solidFill>
              </a:defRPr>
            </a:lvl1pPr>
          </a:lstStyle>
          <a:p>
            <a:pPr/>
            <a:r>
              <a:t>Quality bar</a:t>
            </a:r>
          </a:p>
        </p:txBody>
      </p:sp>
      <p:pic>
        <p:nvPicPr>
          <p:cNvPr id="233" name="Picture 16" descr="Picture 1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0" y="3543300"/>
            <a:ext cx="5638800" cy="33147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34" name="Picture 22" descr="Picture 2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958459" y="3393185"/>
            <a:ext cx="6233541" cy="3464815"/>
          </a:xfrm>
          <a:prstGeom prst="rect">
            <a:avLst/>
          </a:prstGeom>
          <a:ln w="12700">
            <a:miter lim="400000"/>
          </a:ln>
        </p:spPr>
      </p:pic>
      <p:pic>
        <p:nvPicPr>
          <p:cNvPr id="235" name="Picture 19" descr="Picture 19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096000" y="3543300"/>
            <a:ext cx="6096000" cy="33147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ED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42187" y="2388774"/>
            <a:ext cx="10707625" cy="4469226"/>
          </a:xfrm>
          <a:prstGeom prst="rect">
            <a:avLst/>
          </a:prstGeom>
          <a:ln w="12700">
            <a:miter lim="400000"/>
          </a:ln>
        </p:spPr>
      </p:pic>
      <p:sp>
        <p:nvSpPr>
          <p:cNvPr id="240" name="Rectangle 4"/>
          <p:cNvSpPr txBox="1"/>
          <p:nvPr/>
        </p:nvSpPr>
        <p:spPr>
          <a:xfrm>
            <a:off x="731519" y="457200"/>
            <a:ext cx="42900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6F716E"/>
                </a:solidFill>
              </a:defRPr>
            </a:lvl1pPr>
          </a:lstStyle>
          <a:p>
            <a:pPr/>
            <a:r>
              <a:t>SHIPPED PRODUCT</a:t>
            </a:r>
          </a:p>
        </p:txBody>
      </p:sp>
      <p:sp>
        <p:nvSpPr>
          <p:cNvPr id="241" name="slide-title"/>
          <p:cNvSpPr txBox="1"/>
          <p:nvPr/>
        </p:nvSpPr>
        <p:spPr>
          <a:xfrm>
            <a:off x="731519" y="838200"/>
            <a:ext cx="9243062" cy="5493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151716"/>
                </a:solidFill>
              </a:defRPr>
            </a:lvl1pPr>
          </a:lstStyle>
          <a:p>
            <a:pPr/>
            <a:r>
              <a:t>All 5 personas have actionable dashboards.</a:t>
            </a:r>
          </a:p>
        </p:txBody>
      </p:sp>
      <p:sp>
        <p:nvSpPr>
          <p:cNvPr id="242" name="Rectangle 2"/>
          <p:cNvSpPr txBox="1"/>
          <p:nvPr/>
        </p:nvSpPr>
        <p:spPr>
          <a:xfrm>
            <a:off x="731519" y="1581150"/>
            <a:ext cx="7814312" cy="506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151716"/>
                </a:solidFill>
              </a:defRPr>
            </a:lvl1pPr>
          </a:lstStyle>
          <a:p>
            <a:pPr/>
            <a:r>
              <a:t>I discovered the problems that surfaced throughout the capstone process, and after rigorous prioritization with team, I built dashboards to unblock each user persona.</a:t>
            </a:r>
          </a:p>
        </p:txBody>
      </p:sp>
      <p:pic>
        <p:nvPicPr>
          <p:cNvPr id="243" name="Picture 5" descr="Picture 5"/>
          <p:cNvPicPr>
            <a:picLocks noChangeAspect="1"/>
          </p:cNvPicPr>
          <p:nvPr/>
        </p:nvPicPr>
        <p:blipFill>
          <a:blip r:embed="rId4">
            <a:extLst/>
          </a:blip>
          <a:srcRect l="0" t="0" r="0" b="2"/>
          <a:stretch>
            <a:fillRect/>
          </a:stretch>
        </p:blipFill>
        <p:spPr>
          <a:xfrm>
            <a:off x="913256" y="2596228"/>
            <a:ext cx="10379014" cy="42616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5" y="0"/>
                </a:moveTo>
                <a:cubicBezTo>
                  <a:pt x="56" y="0"/>
                  <a:pt x="0" y="136"/>
                  <a:pt x="0" y="304"/>
                </a:cubicBezTo>
                <a:lnTo>
                  <a:pt x="0" y="21298"/>
                </a:lnTo>
                <a:cubicBezTo>
                  <a:pt x="0" y="21466"/>
                  <a:pt x="56" y="21600"/>
                  <a:pt x="125" y="21600"/>
                </a:cubicBezTo>
                <a:lnTo>
                  <a:pt x="21475" y="21600"/>
                </a:lnTo>
                <a:cubicBezTo>
                  <a:pt x="21544" y="21600"/>
                  <a:pt x="21600" y="21466"/>
                  <a:pt x="21600" y="21298"/>
                </a:cubicBezTo>
                <a:lnTo>
                  <a:pt x="21600" y="304"/>
                </a:lnTo>
                <a:cubicBezTo>
                  <a:pt x="21600" y="136"/>
                  <a:pt x="21544" y="0"/>
                  <a:pt x="21475" y="0"/>
                </a:cubicBezTo>
                <a:lnTo>
                  <a:pt x="125" y="0"/>
                </a:lnTo>
                <a:close/>
              </a:path>
            </a:pathLst>
          </a:cu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1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Rectangle 4"/>
          <p:cNvSpPr txBox="1"/>
          <p:nvPr/>
        </p:nvSpPr>
        <p:spPr>
          <a:xfrm>
            <a:off x="731519" y="457200"/>
            <a:ext cx="42900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B9CBB8"/>
                </a:solidFill>
              </a:defRPr>
            </a:lvl1pPr>
          </a:lstStyle>
          <a:p>
            <a:pPr/>
            <a:r>
              <a:t>DESIGN SYSTEM</a:t>
            </a:r>
          </a:p>
        </p:txBody>
      </p:sp>
      <p:sp>
        <p:nvSpPr>
          <p:cNvPr id="248" name="slide-title"/>
          <p:cNvSpPr txBox="1"/>
          <p:nvPr/>
        </p:nvSpPr>
        <p:spPr>
          <a:xfrm>
            <a:off x="731519" y="838200"/>
            <a:ext cx="9909812" cy="1108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7F8F7"/>
                </a:solidFill>
              </a:defRPr>
            </a:lvl1pPr>
          </a:lstStyle>
          <a:p>
            <a:pPr/>
            <a:r>
              <a:t>Educative’s first design system unified B2C and B2B products.</a:t>
            </a:r>
          </a:p>
        </p:txBody>
      </p:sp>
      <p:sp>
        <p:nvSpPr>
          <p:cNvPr id="249" name="Rectangle 2"/>
          <p:cNvSpPr txBox="1"/>
          <p:nvPr/>
        </p:nvSpPr>
        <p:spPr>
          <a:xfrm>
            <a:off x="731519" y="2019300"/>
            <a:ext cx="79095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D7E0DB"/>
                </a:solidFill>
              </a:defRPr>
            </a:lvl1pPr>
          </a:lstStyle>
          <a:p>
            <a:pPr/>
            <a:r>
              <a:t>I led the design and implementation from foundations through reusable patterns.</a:t>
            </a:r>
          </a:p>
        </p:txBody>
      </p:sp>
      <p:pic>
        <p:nvPicPr>
          <p:cNvPr id="250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2726817"/>
            <a:ext cx="12192000" cy="413118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Rectangle 11"/>
          <p:cNvSpPr txBox="1"/>
          <p:nvPr/>
        </p:nvSpPr>
        <p:spPr>
          <a:xfrm>
            <a:off x="731519" y="457200"/>
            <a:ext cx="42900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6F716E"/>
                </a:solidFill>
              </a:defRPr>
            </a:lvl1pPr>
          </a:lstStyle>
          <a:p>
            <a:pPr/>
            <a:r>
              <a:t>FOUNDATIONS</a:t>
            </a:r>
          </a:p>
        </p:txBody>
      </p:sp>
      <p:sp>
        <p:nvSpPr>
          <p:cNvPr id="255" name="slide-title"/>
          <p:cNvSpPr txBox="1"/>
          <p:nvPr/>
        </p:nvSpPr>
        <p:spPr>
          <a:xfrm>
            <a:off x="731519" y="838200"/>
            <a:ext cx="9147812" cy="1108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151716"/>
                </a:solidFill>
              </a:defRPr>
            </a:lvl1pPr>
          </a:lstStyle>
          <a:p>
            <a:pPr/>
            <a:r>
              <a:t>The system documented the decisions every product shared.</a:t>
            </a:r>
          </a:p>
        </p:txBody>
      </p:sp>
      <p:sp>
        <p:nvSpPr>
          <p:cNvPr id="256" name="Rectangle 2"/>
          <p:cNvSpPr txBox="1"/>
          <p:nvPr/>
        </p:nvSpPr>
        <p:spPr>
          <a:xfrm>
            <a:off x="731519" y="3333750"/>
            <a:ext cx="990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B9CBB8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257" name="Rectangle 3"/>
          <p:cNvSpPr txBox="1"/>
          <p:nvPr/>
        </p:nvSpPr>
        <p:spPr>
          <a:xfrm>
            <a:off x="998219" y="3333750"/>
            <a:ext cx="32613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151716"/>
                </a:solidFill>
              </a:defRPr>
            </a:lvl1pPr>
          </a:lstStyle>
          <a:p>
            <a:pPr/>
            <a:r>
              <a:t>Type hierarchy</a:t>
            </a:r>
          </a:p>
        </p:txBody>
      </p:sp>
      <p:sp>
        <p:nvSpPr>
          <p:cNvPr id="258" name="Rectangle 4"/>
          <p:cNvSpPr txBox="1"/>
          <p:nvPr/>
        </p:nvSpPr>
        <p:spPr>
          <a:xfrm>
            <a:off x="731519" y="3886200"/>
            <a:ext cx="990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B9CBB8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259" name="Rectangle 5"/>
          <p:cNvSpPr txBox="1"/>
          <p:nvPr/>
        </p:nvSpPr>
        <p:spPr>
          <a:xfrm>
            <a:off x="998219" y="3886200"/>
            <a:ext cx="32613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151716"/>
                </a:solidFill>
              </a:defRPr>
            </a:lvl1pPr>
          </a:lstStyle>
          <a:p>
            <a:pPr/>
            <a:r>
              <a:t>Color and contrast</a:t>
            </a:r>
          </a:p>
        </p:txBody>
      </p:sp>
      <p:sp>
        <p:nvSpPr>
          <p:cNvPr id="260" name="Rectangle 6"/>
          <p:cNvSpPr txBox="1"/>
          <p:nvPr/>
        </p:nvSpPr>
        <p:spPr>
          <a:xfrm>
            <a:off x="731519" y="4438650"/>
            <a:ext cx="990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B9CBB8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261" name="Rectangle 7"/>
          <p:cNvSpPr txBox="1"/>
          <p:nvPr/>
        </p:nvSpPr>
        <p:spPr>
          <a:xfrm>
            <a:off x="998219" y="4438650"/>
            <a:ext cx="32613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151716"/>
                </a:solidFill>
              </a:defRPr>
            </a:lvl1pPr>
          </a:lstStyle>
          <a:p>
            <a:pPr/>
            <a:r>
              <a:t>Accessibility</a:t>
            </a:r>
          </a:p>
        </p:txBody>
      </p:sp>
      <p:sp>
        <p:nvSpPr>
          <p:cNvPr id="262" name="Rectangle 8"/>
          <p:cNvSpPr txBox="1"/>
          <p:nvPr/>
        </p:nvSpPr>
        <p:spPr>
          <a:xfrm>
            <a:off x="731519" y="4991100"/>
            <a:ext cx="990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B9CBB8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263" name="Rectangle 9"/>
          <p:cNvSpPr txBox="1"/>
          <p:nvPr/>
        </p:nvSpPr>
        <p:spPr>
          <a:xfrm>
            <a:off x="998219" y="4991100"/>
            <a:ext cx="32613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151716"/>
                </a:solidFill>
              </a:defRPr>
            </a:lvl1pPr>
          </a:lstStyle>
          <a:p>
            <a:pPr/>
            <a:r>
              <a:t>Elevation and shadows</a:t>
            </a:r>
          </a:p>
        </p:txBody>
      </p:sp>
      <p:pic>
        <p:nvPicPr>
          <p:cNvPr id="264" name="Picture 10" descr="Picture 10"/>
          <p:cNvPicPr>
            <a:picLocks noChangeAspect="1"/>
          </p:cNvPicPr>
          <p:nvPr/>
        </p:nvPicPr>
        <p:blipFill>
          <a:blip r:embed="rId3">
            <a:extLst/>
          </a:blip>
          <a:srcRect l="0" t="0" r="58518" b="0"/>
          <a:stretch>
            <a:fillRect/>
          </a:stretch>
        </p:blipFill>
        <p:spPr>
          <a:xfrm>
            <a:off x="3516143" y="2357968"/>
            <a:ext cx="8226360" cy="404283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ED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Picture 15" descr="Picture 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28091" y="1998726"/>
            <a:ext cx="10707624" cy="4859274"/>
          </a:xfrm>
          <a:prstGeom prst="rect">
            <a:avLst/>
          </a:prstGeom>
          <a:ln w="12700">
            <a:miter lim="400000"/>
          </a:ln>
        </p:spPr>
      </p:pic>
      <p:sp>
        <p:nvSpPr>
          <p:cNvPr id="269" name="Rectangle 4"/>
          <p:cNvSpPr txBox="1"/>
          <p:nvPr/>
        </p:nvSpPr>
        <p:spPr>
          <a:xfrm>
            <a:off x="731519" y="457200"/>
            <a:ext cx="42900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6F716E"/>
                </a:solidFill>
              </a:defRPr>
            </a:lvl1pPr>
          </a:lstStyle>
          <a:p>
            <a:pPr/>
            <a:r>
              <a:t>Side Project</a:t>
            </a:r>
          </a:p>
        </p:txBody>
      </p:sp>
      <p:sp>
        <p:nvSpPr>
          <p:cNvPr id="270" name="slide-title"/>
          <p:cNvSpPr txBox="1"/>
          <p:nvPr/>
        </p:nvSpPr>
        <p:spPr>
          <a:xfrm>
            <a:off x="731520" y="838199"/>
            <a:ext cx="9682942" cy="539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500">
                <a:solidFill>
                  <a:srgbClr val="151716"/>
                </a:solidFill>
              </a:defRPr>
            </a:lvl1pPr>
          </a:lstStyle>
          <a:p>
            <a:pPr/>
            <a:r>
              <a:t>A Three.js and GLSL based gradient generator</a:t>
            </a:r>
          </a:p>
        </p:txBody>
      </p:sp>
      <p:pic>
        <p:nvPicPr>
          <p:cNvPr id="271" name="Screen Recording 2026-07-29 at 12.58.51 PM (1)" descr="Screen Recording 2026-07-29 at 12.58.51 PM (1)"/>
          <p:cNvPicPr>
            <a:picLocks noChangeAspect="1"/>
          </p:cNvPicPr>
          <p:nvPr/>
        </p:nvPicPr>
        <p:blipFill>
          <a:blip r:embed="rId4">
            <a:extLst/>
          </a:blip>
          <a:srcRect l="0" t="0" r="1" b="0"/>
          <a:stretch>
            <a:fillRect/>
          </a:stretch>
        </p:blipFill>
        <p:spPr>
          <a:xfrm>
            <a:off x="837248" y="2120169"/>
            <a:ext cx="10490201" cy="47378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31" y="0"/>
                </a:moveTo>
                <a:cubicBezTo>
                  <a:pt x="148" y="0"/>
                  <a:pt x="0" y="328"/>
                  <a:pt x="0" y="733"/>
                </a:cubicBezTo>
                <a:lnTo>
                  <a:pt x="0" y="20867"/>
                </a:lnTo>
                <a:cubicBezTo>
                  <a:pt x="0" y="21272"/>
                  <a:pt x="148" y="21600"/>
                  <a:pt x="331" y="21600"/>
                </a:cubicBezTo>
                <a:lnTo>
                  <a:pt x="21269" y="21600"/>
                </a:lnTo>
                <a:cubicBezTo>
                  <a:pt x="21452" y="21600"/>
                  <a:pt x="21600" y="21272"/>
                  <a:pt x="21600" y="20867"/>
                </a:cubicBezTo>
                <a:lnTo>
                  <a:pt x="21600" y="733"/>
                </a:lnTo>
                <a:cubicBezTo>
                  <a:pt x="21600" y="328"/>
                  <a:pt x="21452" y="0"/>
                  <a:pt x="21269" y="0"/>
                </a:cubicBezTo>
                <a:lnTo>
                  <a:pt x="331" y="0"/>
                </a:lnTo>
                <a:close/>
              </a:path>
            </a:pathLst>
          </a:cu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1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Rectangle 8"/>
          <p:cNvSpPr txBox="1"/>
          <p:nvPr/>
        </p:nvSpPr>
        <p:spPr>
          <a:xfrm>
            <a:off x="731519" y="457200"/>
            <a:ext cx="42900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B9CBB8"/>
                </a:solidFill>
              </a:defRPr>
            </a:lvl1pPr>
          </a:lstStyle>
          <a:p>
            <a:pPr/>
            <a:r>
              <a:t>MUSTAFA</a:t>
            </a:r>
          </a:p>
        </p:txBody>
      </p:sp>
      <p:sp>
        <p:nvSpPr>
          <p:cNvPr id="276" name="Rectangle 1"/>
          <p:cNvSpPr txBox="1"/>
          <p:nvPr/>
        </p:nvSpPr>
        <p:spPr>
          <a:xfrm>
            <a:off x="731519" y="1352550"/>
            <a:ext cx="7719062" cy="843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5800">
                <a:solidFill>
                  <a:srgbClr val="F7F8F7"/>
                </a:solidFill>
              </a:defRPr>
            </a:lvl1pPr>
          </a:lstStyle>
          <a:p>
            <a:pPr/>
            <a:r>
              <a:t>Questions?</a:t>
            </a:r>
          </a:p>
        </p:txBody>
      </p:sp>
      <p:sp>
        <p:nvSpPr>
          <p:cNvPr id="277" name="Rectangle 2"/>
          <p:cNvSpPr txBox="1"/>
          <p:nvPr/>
        </p:nvSpPr>
        <p:spPr>
          <a:xfrm>
            <a:off x="731519" y="2667000"/>
            <a:ext cx="6195062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D7E0DB"/>
                </a:solidFill>
              </a:defRPr>
            </a:lvl1pPr>
          </a:lstStyle>
          <a:p>
            <a:pPr/>
            <a:r>
              <a:t>Product design, systems, and code.</a:t>
            </a:r>
          </a:p>
        </p:txBody>
      </p:sp>
      <p:sp>
        <p:nvSpPr>
          <p:cNvPr id="278" name="Rectangle 3"/>
          <p:cNvSpPr/>
          <p:nvPr/>
        </p:nvSpPr>
        <p:spPr>
          <a:xfrm>
            <a:off x="685800" y="4094162"/>
            <a:ext cx="10820400" cy="12701"/>
          </a:xfrm>
          <a:prstGeom prst="rect">
            <a:avLst/>
          </a:prstGeom>
          <a:solidFill>
            <a:srgbClr val="28483E"/>
          </a:solidFill>
          <a:ln w="3175">
            <a:solidFill>
              <a:srgbClr val="28483E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79" name="Rectangle 4"/>
          <p:cNvSpPr txBox="1"/>
          <p:nvPr/>
        </p:nvSpPr>
        <p:spPr>
          <a:xfrm>
            <a:off x="731519" y="4476750"/>
            <a:ext cx="162306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B9CBB8"/>
                </a:solidFill>
              </a:defRPr>
            </a:lvl1pPr>
          </a:lstStyle>
          <a:p>
            <a:pPr/>
            <a:r>
              <a:t>Email</a:t>
            </a:r>
          </a:p>
        </p:txBody>
      </p:sp>
      <p:sp>
        <p:nvSpPr>
          <p:cNvPr id="280" name="Rectangle 5"/>
          <p:cNvSpPr txBox="1"/>
          <p:nvPr/>
        </p:nvSpPr>
        <p:spPr>
          <a:xfrm>
            <a:off x="731519" y="4857750"/>
            <a:ext cx="4004312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F7F8F7"/>
                </a:solidFill>
              </a:defRPr>
            </a:lvl1pPr>
          </a:lstStyle>
          <a:p>
            <a:pPr/>
            <a:r>
              <a:t>hello@mstf.work</a:t>
            </a:r>
          </a:p>
        </p:txBody>
      </p:sp>
      <p:sp>
        <p:nvSpPr>
          <p:cNvPr id="281" name="Rectangle 6"/>
          <p:cNvSpPr txBox="1"/>
          <p:nvPr/>
        </p:nvSpPr>
        <p:spPr>
          <a:xfrm>
            <a:off x="6236969" y="4476750"/>
            <a:ext cx="162306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B9CBB8"/>
                </a:solidFill>
              </a:defRPr>
            </a:lvl1pPr>
          </a:lstStyle>
          <a:p>
            <a:pPr/>
            <a:r>
              <a:t>Phone</a:t>
            </a:r>
          </a:p>
        </p:txBody>
      </p:sp>
      <p:sp>
        <p:nvSpPr>
          <p:cNvPr id="282" name="Rectangle 7"/>
          <p:cNvSpPr txBox="1"/>
          <p:nvPr/>
        </p:nvSpPr>
        <p:spPr>
          <a:xfrm>
            <a:off x="6236969" y="4857750"/>
            <a:ext cx="4004312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F7F8F7"/>
                </a:solidFill>
              </a:defRPr>
            </a:lvl1pPr>
          </a:lstStyle>
          <a:p>
            <a:pPr/>
            <a:r>
              <a:t>+1 737 389 0364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